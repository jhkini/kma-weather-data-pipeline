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72" r:id="rId3"/>
    <p:sldId id="273" r:id="rId4"/>
    <p:sldId id="267" r:id="rId5"/>
    <p:sldId id="263" r:id="rId6"/>
    <p:sldId id="271" r:id="rId7"/>
    <p:sldId id="259" r:id="rId8"/>
    <p:sldId id="268" r:id="rId9"/>
    <p:sldId id="274" r:id="rId10"/>
    <p:sldId id="26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2B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A41FAF-73E4-4FFF-923B-CCC508896155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E6FB2D-AD11-42F8-8272-CA0D066471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1307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E6FB2D-AD11-42F8-8272-CA0D066471F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09459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E6FB2D-AD11-42F8-8272-CA0D066471F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8655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756"/>
          </a:solidFill>
          <a:ln w="7620">
            <a:solidFill>
              <a:srgbClr val="D3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09306"/>
            <a:ext cx="6400800" cy="181588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dirty="0">
                <a:solidFill>
                  <a:srgbClr val="2B3036"/>
                </a:solidFill>
                <a:latin typeface="Aptos"/>
              </a:rPr>
              <a:t>/  PROJECT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10241280" cy="777240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dirty="0" err="1">
                <a:solidFill>
                  <a:srgbClr val="1D2D44"/>
                </a:solidFill>
                <a:latin typeface="Aptos"/>
              </a:rPr>
              <a:t>기상청</a:t>
            </a:r>
            <a:r>
              <a:rPr sz="3200" b="1" dirty="0">
                <a:solidFill>
                  <a:srgbClr val="1D2D44"/>
                </a:solidFill>
                <a:latin typeface="Aptos"/>
              </a:rPr>
              <a:t> </a:t>
            </a:r>
            <a:r>
              <a:rPr sz="3200" b="1" dirty="0" err="1">
                <a:solidFill>
                  <a:srgbClr val="1D2D44"/>
                </a:solidFill>
                <a:latin typeface="Aptos"/>
              </a:rPr>
              <a:t>데이터</a:t>
            </a:r>
            <a:r>
              <a:rPr sz="3200" b="1" dirty="0">
                <a:solidFill>
                  <a:srgbClr val="1D2D44"/>
                </a:solidFill>
                <a:latin typeface="Aptos"/>
              </a:rPr>
              <a:t> </a:t>
            </a:r>
            <a:r>
              <a:rPr sz="3200" b="1" dirty="0" err="1">
                <a:solidFill>
                  <a:srgbClr val="1D2D44"/>
                </a:solidFill>
                <a:latin typeface="Aptos"/>
              </a:rPr>
              <a:t>파이프라인</a:t>
            </a:r>
            <a:endParaRPr sz="3200" b="1" dirty="0">
              <a:solidFill>
                <a:srgbClr val="1D2D44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1248" y="2291105"/>
            <a:ext cx="9875520" cy="520142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ctr">
            <a:spAutoFit/>
          </a:bodyPr>
          <a:lstStyle/>
          <a:p>
            <a:r>
              <a:t>기상청 ASOS 시간별 관측 데이터를 Airflow로 수집·검증·적재하고, FastAPI와 React 대시보드로 조회·품질 진단·적재 상태를 제공하는 데이터 파이프라인 구축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999232"/>
            <a:ext cx="10469880" cy="32004"/>
          </a:xfrm>
          <a:prstGeom prst="rect">
            <a:avLst/>
          </a:prstGeom>
          <a:solidFill>
            <a:srgbClr val="1F3756"/>
          </a:solidFill>
          <a:ln>
            <a:solidFill>
              <a:srgbClr val="D3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48006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B3036"/>
                </a:solidFill>
                <a:latin typeface="Aptos"/>
              </a:rPr>
              <a:t>TECH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138928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B3644"/>
                </a:solidFill>
                <a:latin typeface="Aptos"/>
              </a:rPr>
              <a:t>Python · Pandas · MySQL · SQLAlchemy · Docker · Airflow · FastAPI · React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5870448"/>
            <a:ext cx="10469880" cy="10972"/>
          </a:xfrm>
          <a:prstGeom prst="rect">
            <a:avLst/>
          </a:prstGeom>
          <a:solidFill>
            <a:srgbClr val="EBF3FA"/>
          </a:solidFill>
          <a:ln>
            <a:solidFill>
              <a:srgbClr val="D3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6089904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180"/>
                </a:solidFill>
                <a:latin typeface="Aptos"/>
              </a:rPr>
              <a:t>GitHub  ·  github.com/JHKINI/kma-weather-data-pipeline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6089904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47180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3832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191919"/>
                </a:solidFill>
                <a:latin typeface="Malgun Gothic"/>
              </a:defRPr>
            </a:pPr>
            <a:r>
              <a:t>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365760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191919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67512"/>
            <a:ext cx="10881360" cy="47548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91919"/>
                </a:solidFill>
                <a:latin typeface="Malgun Gothic"/>
              </a:defRPr>
            </a:pPr>
            <a:r>
              <a:t>API와 데이터베이스를 연결하는 백엔드 개발자로 성장하고 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71016"/>
            <a:ext cx="102412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dirty="0" err="1"/>
              <a:t>경영·화학</a:t>
            </a:r>
            <a:r>
              <a:rPr dirty="0"/>
              <a:t> </a:t>
            </a:r>
            <a:r>
              <a:rPr dirty="0" err="1"/>
              <a:t>전공의</a:t>
            </a:r>
            <a:r>
              <a:rPr dirty="0"/>
              <a:t> </a:t>
            </a:r>
            <a:r>
              <a:rPr dirty="0" err="1"/>
              <a:t>분석</a:t>
            </a:r>
            <a:r>
              <a:rPr dirty="0"/>
              <a:t> </a:t>
            </a:r>
            <a:r>
              <a:rPr dirty="0" err="1"/>
              <a:t>경험을</a:t>
            </a:r>
            <a:r>
              <a:rPr dirty="0"/>
              <a:t> </a:t>
            </a:r>
            <a:r>
              <a:rPr dirty="0" err="1"/>
              <a:t>소프트웨어</a:t>
            </a:r>
            <a:r>
              <a:rPr dirty="0"/>
              <a:t> </a:t>
            </a:r>
            <a:r>
              <a:rPr dirty="0" err="1"/>
              <a:t>개발과</a:t>
            </a:r>
            <a:r>
              <a:rPr dirty="0"/>
              <a:t> </a:t>
            </a:r>
            <a:r>
              <a:rPr dirty="0" err="1"/>
              <a:t>서버</a:t>
            </a:r>
            <a:r>
              <a:rPr dirty="0"/>
              <a:t> </a:t>
            </a:r>
            <a:r>
              <a:rPr dirty="0" err="1"/>
              <a:t>구현으로</a:t>
            </a:r>
            <a:r>
              <a:rPr dirty="0"/>
              <a:t> </a:t>
            </a:r>
            <a:r>
              <a:rPr dirty="0" err="1"/>
              <a:t>연결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3703320" cy="4160520"/>
          </a:xfrm>
          <a:prstGeom prst="roundRect">
            <a:avLst>
              <a:gd name="adj" fmla="val 8000"/>
            </a:avLst>
          </a:prstGeom>
          <a:solidFill>
            <a:srgbClr val="EDEDED"/>
          </a:solidFill>
          <a:ln w="10160">
            <a:solidFill>
              <a:srgbClr val="7D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492050"/>
            <a:ext cx="3108960" cy="28315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200"/>
              </a:spcAft>
              <a:defRPr sz="2700" b="1">
                <a:solidFill>
                  <a:srgbClr val="191919"/>
                </a:solidFill>
                <a:latin typeface="Malgun Gothic"/>
              </a:defRPr>
            </a:pPr>
            <a:r>
              <a:rPr sz="1600" dirty="0"/>
              <a:t>양진희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6173" y="27660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dirty="0"/>
              <a:t>1994.12.19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3154680" cy="252377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91919"/>
                </a:solidFill>
                <a:latin typeface="Malgun Gothic"/>
              </a:defRPr>
            </a:pPr>
            <a:r>
              <a:rPr dirty="0"/>
              <a:t> Backend Developer · </a:t>
            </a:r>
            <a:r>
              <a:rPr dirty="0" err="1"/>
              <a:t>신입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22960" y="4019612"/>
            <a:ext cx="3419856" cy="1006429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400" dirty="0" err="1"/>
              <a:t>덕성여자대학교</a:t>
            </a:r>
            <a:endParaRPr sz="1400" dirty="0"/>
          </a:p>
          <a:p>
            <a:pPr algn="l">
              <a:spcAft>
                <a:spcPts val="200"/>
              </a:spcAft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lang="ko-KR" altLang="en-US" sz="1400" dirty="0" err="1"/>
              <a:t>주전공</a:t>
            </a:r>
            <a:r>
              <a:rPr lang="ko-KR" altLang="en-US" sz="1400" dirty="0"/>
              <a:t> </a:t>
            </a:r>
            <a:r>
              <a:rPr lang="en-US" altLang="ko-KR" sz="1400" dirty="0"/>
              <a:t>: </a:t>
            </a:r>
            <a:r>
              <a:rPr sz="1400" dirty="0" err="1"/>
              <a:t>경영학</a:t>
            </a:r>
            <a:r>
              <a:rPr lang="ko-KR" altLang="en-US" sz="1400" dirty="0"/>
              <a:t>과 </a:t>
            </a:r>
            <a:r>
              <a:rPr lang="en-US" altLang="ko-KR" sz="1400" dirty="0"/>
              <a:t>/ </a:t>
            </a:r>
            <a:r>
              <a:rPr lang="ko-KR" altLang="en-US" sz="1400" dirty="0"/>
              <a:t>복수전공 </a:t>
            </a:r>
            <a:r>
              <a:rPr lang="en-US" altLang="ko-KR" sz="1400" dirty="0"/>
              <a:t>: </a:t>
            </a:r>
            <a:r>
              <a:rPr sz="1400" dirty="0" err="1"/>
              <a:t>화학</a:t>
            </a:r>
            <a:r>
              <a:rPr lang="ko-KR" altLang="en-US" sz="1400" dirty="0"/>
              <a:t>과</a:t>
            </a:r>
            <a:endParaRPr lang="en-US" sz="1400" dirty="0"/>
          </a:p>
          <a:p>
            <a:pPr>
              <a:spcAft>
                <a:spcPts val="200"/>
              </a:spcAft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lang="en-US" altLang="ko-KR" sz="1400" dirty="0">
                <a:solidFill>
                  <a:srgbClr val="141414"/>
                </a:solidFill>
              </a:rPr>
              <a:t>E-mail 3863369@gmail.com</a:t>
            </a:r>
          </a:p>
          <a:p>
            <a:pPr algn="l">
              <a:spcAft>
                <a:spcPts val="200"/>
              </a:spcAft>
              <a:defRPr sz="1600" b="0">
                <a:solidFill>
                  <a:srgbClr val="282828"/>
                </a:solidFill>
                <a:latin typeface="Malgun Gothic"/>
              </a:defRPr>
            </a:pP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822960" y="4983480"/>
            <a:ext cx="3154680" cy="7498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200"/>
              </a:spcAft>
              <a:defRPr sz="1050" b="0">
                <a:solidFill>
                  <a:srgbClr val="282828"/>
                </a:solidFill>
                <a:latin typeface="Malgun Gothic"/>
              </a:defRPr>
            </a:pPr>
            <a:r>
              <a:t>주요 경험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282828"/>
                </a:solidFill>
                <a:latin typeface="Malgun Gothic"/>
              </a:defRPr>
            </a:pPr>
            <a:r>
              <a:t>기상 데이터 파이프라인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282828"/>
                </a:solidFill>
                <a:latin typeface="Malgun Gothic"/>
              </a:defRPr>
            </a:pPr>
            <a:r>
              <a:t>FastAPI 조회 API · MySQL UPSERT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282828"/>
                </a:solidFill>
                <a:latin typeface="Malgun Gothic"/>
              </a:defRPr>
            </a:pPr>
            <a:r>
              <a:t>Airflow ETL 자동화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53712" y="1783080"/>
            <a:ext cx="7022592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7D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28032" y="1993392"/>
            <a:ext cx="123444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191919"/>
                </a:solidFill>
                <a:latin typeface="Malgun Gothic"/>
              </a:defRPr>
            </a:pPr>
            <a:r>
              <a:t>개발 방향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2313432"/>
            <a:ext cx="635508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191919"/>
                </a:solidFill>
                <a:latin typeface="Malgun Gothic"/>
              </a:defRPr>
            </a:pPr>
            <a:r>
              <a:t>API 설계부터 데이터 저장과 조회까지 연결하는 백엔드 개발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06324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91919"/>
                </a:solidFill>
                <a:latin typeface="Malgun Gothic"/>
              </a:defRPr>
            </a:pPr>
            <a:r>
              <a:t>현재 기술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90288" y="3401568"/>
            <a:ext cx="1572768" cy="384048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0160">
            <a:solidFill>
              <a:srgbClr val="7D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391655" y="3401568"/>
            <a:ext cx="1572768" cy="384048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0160">
            <a:solidFill>
              <a:srgbClr val="7D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193023" y="3401568"/>
            <a:ext cx="1572768" cy="384048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0160">
            <a:solidFill>
              <a:srgbClr val="7D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38744" y="3474720"/>
            <a:ext cx="1481328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191919"/>
                </a:solidFill>
                <a:latin typeface="Malgun Gothic"/>
              </a:defRPr>
            </a:pPr>
            <a:r>
              <a:rPr dirty="0"/>
              <a:t>SQL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94392" y="3401568"/>
            <a:ext cx="1572768" cy="384048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0160">
            <a:solidFill>
              <a:srgbClr val="7D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40112" y="3474720"/>
            <a:ext cx="1481328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191919"/>
                </a:solidFill>
                <a:latin typeface="Malgun Gothic"/>
              </a:defRPr>
            </a:pPr>
            <a:r>
              <a:t>MySQL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90288" y="4105656"/>
            <a:ext cx="1572768" cy="384048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0160">
            <a:solidFill>
              <a:srgbClr val="7D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36008" y="3466295"/>
            <a:ext cx="1481328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191919"/>
                </a:solidFill>
                <a:latin typeface="Malgun Gothic"/>
              </a:defRPr>
            </a:pPr>
            <a:r>
              <a:rPr dirty="0"/>
              <a:t>Python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91655" y="4105656"/>
            <a:ext cx="1572768" cy="384048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0160">
            <a:solidFill>
              <a:srgbClr val="7D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91655" y="3495511"/>
            <a:ext cx="1481328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191919"/>
                </a:solidFill>
                <a:latin typeface="Malgun Gothic"/>
              </a:defRPr>
            </a:pPr>
            <a:r>
              <a:rPr dirty="0" err="1"/>
              <a:t>FastAPI</a:t>
            </a:r>
            <a:endParaRPr dirty="0"/>
          </a:p>
        </p:txBody>
      </p:sp>
      <p:sp>
        <p:nvSpPr>
          <p:cNvPr id="28" name="Rounded Rectangle 27"/>
          <p:cNvSpPr/>
          <p:nvPr/>
        </p:nvSpPr>
        <p:spPr>
          <a:xfrm>
            <a:off x="8193023" y="4105656"/>
            <a:ext cx="1572768" cy="384048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0160">
            <a:solidFill>
              <a:srgbClr val="7D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38744" y="4178808"/>
            <a:ext cx="1481328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191919"/>
                </a:solidFill>
                <a:latin typeface="Malgun Gothic"/>
              </a:defRPr>
            </a:pPr>
            <a:r>
              <a:rPr dirty="0"/>
              <a:t>REST API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94392" y="4105656"/>
            <a:ext cx="1572768" cy="384048"/>
          </a:xfrm>
          <a:prstGeom prst="roundRect">
            <a:avLst>
              <a:gd name="adj" fmla="val 8000"/>
            </a:avLst>
          </a:prstGeom>
          <a:solidFill>
            <a:srgbClr val="E8F4EF"/>
          </a:solidFill>
          <a:ln w="10160">
            <a:solidFill>
              <a:srgbClr val="7D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40112" y="4178808"/>
            <a:ext cx="1481328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191919"/>
                </a:solidFill>
                <a:latin typeface="Malgun Gothic"/>
              </a:defRPr>
            </a:pPr>
            <a:r>
              <a:t>Git/GitHub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4660201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191919"/>
                </a:solidFill>
                <a:latin typeface="Malgun Gothic"/>
              </a:defRPr>
            </a:pPr>
            <a:r>
              <a:rPr dirty="0" err="1"/>
              <a:t>확장할</a:t>
            </a:r>
            <a:r>
              <a:rPr dirty="0"/>
              <a:t> </a:t>
            </a:r>
            <a:r>
              <a:rPr dirty="0" err="1"/>
              <a:t>역량</a:t>
            </a:r>
            <a:endParaRPr dirty="0"/>
          </a:p>
        </p:txBody>
      </p:sp>
      <p:sp>
        <p:nvSpPr>
          <p:cNvPr id="33" name="TextBox 32"/>
          <p:cNvSpPr txBox="1"/>
          <p:nvPr/>
        </p:nvSpPr>
        <p:spPr>
          <a:xfrm>
            <a:off x="5715000" y="4642360"/>
            <a:ext cx="562356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91919"/>
                </a:solidFill>
                <a:latin typeface="Malgun Gothic"/>
              </a:defRPr>
            </a:pPr>
            <a:r>
              <a:rPr dirty="0" err="1"/>
              <a:t>인증·인가</a:t>
            </a:r>
            <a:r>
              <a:rPr dirty="0"/>
              <a:t> · </a:t>
            </a:r>
            <a:r>
              <a:rPr dirty="0" err="1"/>
              <a:t>예외</a:t>
            </a:r>
            <a:r>
              <a:rPr dirty="0"/>
              <a:t> </a:t>
            </a:r>
            <a:r>
              <a:rPr dirty="0" err="1"/>
              <a:t>처리</a:t>
            </a:r>
            <a:r>
              <a:rPr dirty="0"/>
              <a:t> · </a:t>
            </a:r>
            <a:r>
              <a:rPr dirty="0" err="1"/>
              <a:t>테스트</a:t>
            </a:r>
            <a:r>
              <a:rPr dirty="0"/>
              <a:t> </a:t>
            </a:r>
            <a:r>
              <a:rPr dirty="0" err="1"/>
              <a:t>자동화</a:t>
            </a:r>
            <a:r>
              <a:rPr dirty="0"/>
              <a:t> · Docker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배포</a:t>
            </a:r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4617720" y="5102352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191919"/>
                </a:solidFill>
                <a:latin typeface="Malgun Gothic"/>
              </a:defRPr>
            </a:pPr>
            <a:r>
              <a:t>주요 경력 / 자격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16752" y="5038344"/>
            <a:ext cx="5120640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t>오픽 IM2 · 컴퓨터활용능력 2급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t>산학협력단 TLO 연구원 6개월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6236208"/>
            <a:ext cx="10972800" cy="10972"/>
          </a:xfrm>
          <a:prstGeom prst="rect">
            <a:avLst/>
          </a:prstGeom>
          <a:solidFill>
            <a:srgbClr val="7D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6382512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96969"/>
                </a:solidFill>
                <a:latin typeface="Malgun Gothic"/>
              </a:defRPr>
            </a:pPr>
            <a:r>
              <a:t>양진희 · Backend Developer Portfolio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6327648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200"/>
              </a:spcAft>
              <a:defRPr sz="1200" b="0">
                <a:solidFill>
                  <a:srgbClr val="191919"/>
                </a:solidFill>
                <a:latin typeface="Malgun Gothic"/>
              </a:defRPr>
            </a:pPr>
            <a:r>
              <a:t>GitHub  https://github.com/JHKINI</a:t>
            </a: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8454F260-051D-47E1-B626-61727B27435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1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483"/>
                    </a14:imgEffect>
                    <a14:imgEffect>
                      <a14:saturation sat="88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2684822" y="2194560"/>
            <a:ext cx="904551" cy="1144828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8B077450-95DB-8CA6-8495-3A071BBF62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7210" y="5086716"/>
            <a:ext cx="909094" cy="100490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81728" y="4175207"/>
            <a:ext cx="1481328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191919"/>
                </a:solidFill>
                <a:latin typeface="Malgun Gothic"/>
              </a:defRPr>
            </a:pPr>
            <a:r>
              <a:rPr dirty="0"/>
              <a:t>Java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5" y="4178808"/>
            <a:ext cx="1481328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191919"/>
                </a:solidFill>
                <a:latin typeface="Malgun Gothic"/>
              </a:defRPr>
            </a:pPr>
            <a:r>
              <a:rPr dirty="0"/>
              <a:t>Spring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B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47489"/>
            <a:ext cx="4572000" cy="190821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dirty="0">
                <a:solidFill>
                  <a:srgbClr val="002060"/>
                </a:solidFill>
                <a:latin typeface="Aptos"/>
              </a:rPr>
              <a:t>01 /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9601200" cy="5029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dirty="0" err="1">
                <a:solidFill>
                  <a:srgbClr val="1D2D44"/>
                </a:solidFill>
                <a:latin typeface="Aptos"/>
              </a:rPr>
              <a:t>기상청</a:t>
            </a:r>
            <a:r>
              <a:rPr sz="2700" b="1" dirty="0">
                <a:solidFill>
                  <a:srgbClr val="1D2D44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1D2D44"/>
                </a:solidFill>
                <a:latin typeface="Aptos"/>
              </a:rPr>
              <a:t>데이터</a:t>
            </a:r>
            <a:r>
              <a:rPr sz="2700" b="1" dirty="0">
                <a:solidFill>
                  <a:srgbClr val="1D2D44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1D2D44"/>
                </a:solidFill>
                <a:latin typeface="Aptos"/>
              </a:rPr>
              <a:t>파이프라인</a:t>
            </a:r>
            <a:endParaRPr sz="2700" b="1" dirty="0">
              <a:solidFill>
                <a:srgbClr val="1D2D44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0698480" cy="3200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dirty="0" err="1">
                <a:solidFill>
                  <a:srgbClr val="67778B"/>
                </a:solidFill>
                <a:latin typeface="Aptos"/>
              </a:rPr>
              <a:t>시간별</a:t>
            </a:r>
            <a:r>
              <a:rPr sz="1400" b="0" dirty="0">
                <a:solidFill>
                  <a:srgbClr val="67778B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7778B"/>
                </a:solidFill>
                <a:latin typeface="Aptos"/>
              </a:rPr>
              <a:t>관측</a:t>
            </a:r>
            <a:r>
              <a:rPr sz="1400" b="0" dirty="0">
                <a:solidFill>
                  <a:srgbClr val="67778B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7778B"/>
                </a:solidFill>
                <a:latin typeface="Aptos"/>
              </a:rPr>
              <a:t>데이터를</a:t>
            </a:r>
            <a:r>
              <a:rPr sz="1400" b="0" dirty="0">
                <a:solidFill>
                  <a:srgbClr val="67778B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7778B"/>
                </a:solidFill>
                <a:latin typeface="Aptos"/>
              </a:rPr>
              <a:t>안정적으로</a:t>
            </a:r>
            <a:r>
              <a:rPr sz="1400" b="0" dirty="0">
                <a:solidFill>
                  <a:srgbClr val="67778B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7778B"/>
                </a:solidFill>
                <a:latin typeface="Aptos"/>
              </a:rPr>
              <a:t>적재하고</a:t>
            </a:r>
            <a:r>
              <a:rPr sz="1400" b="0" dirty="0">
                <a:solidFill>
                  <a:srgbClr val="67778B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7778B"/>
                </a:solidFill>
                <a:latin typeface="Aptos"/>
              </a:rPr>
              <a:t>조회</a:t>
            </a:r>
            <a:r>
              <a:rPr sz="1400" b="0" dirty="0">
                <a:solidFill>
                  <a:srgbClr val="67778B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7778B"/>
                </a:solidFill>
                <a:latin typeface="Aptos"/>
              </a:rPr>
              <a:t>API로</a:t>
            </a:r>
            <a:r>
              <a:rPr sz="1400" b="0" dirty="0">
                <a:solidFill>
                  <a:srgbClr val="67778B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7778B"/>
                </a:solidFill>
                <a:latin typeface="Aptos"/>
              </a:rPr>
              <a:t>제공</a:t>
            </a:r>
            <a:endParaRPr sz="1400" b="0" dirty="0">
              <a:solidFill>
                <a:srgbClr val="67778B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0352" y="1417320"/>
            <a:ext cx="11128248" cy="22860"/>
          </a:xfrm>
          <a:prstGeom prst="rect">
            <a:avLst/>
          </a:prstGeom>
          <a:solidFill>
            <a:srgbClr val="1B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417320" cy="51206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D2D44"/>
                </a:solidFill>
                <a:latin typeface="Aptos"/>
              </a:rP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4831" y="1627632"/>
            <a:ext cx="9281160" cy="51206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333F4E"/>
                </a:solidFill>
                <a:latin typeface="Aptos"/>
              </a:rPr>
              <a:t>시간별 관측 데이터의 결측·중복·시간 간격 오류는 분석 결과의 신뢰도에 영향을 줄 수 있음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176272"/>
            <a:ext cx="10881360" cy="7315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2194560"/>
            <a:ext cx="1417320" cy="51206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D2D44"/>
                </a:solidFill>
                <a:latin typeface="Aptos"/>
              </a:rPr>
              <a:t>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84831" y="2324403"/>
            <a:ext cx="9281160" cy="252377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r>
              <a:rPr sz="1400" dirty="0" err="1"/>
              <a:t>수집</a:t>
            </a:r>
            <a:r>
              <a:rPr sz="1400" dirty="0"/>
              <a:t> </a:t>
            </a:r>
            <a:r>
              <a:rPr sz="1400" dirty="0" err="1"/>
              <a:t>데이터를</a:t>
            </a:r>
            <a:r>
              <a:rPr sz="1400" dirty="0"/>
              <a:t> </a:t>
            </a:r>
            <a:r>
              <a:rPr sz="1400" dirty="0" err="1"/>
              <a:t>품질</a:t>
            </a:r>
            <a:r>
              <a:rPr sz="1400" dirty="0"/>
              <a:t> </a:t>
            </a:r>
            <a:r>
              <a:rPr sz="1400" dirty="0" err="1"/>
              <a:t>검증</a:t>
            </a:r>
            <a:r>
              <a:rPr sz="1400" dirty="0"/>
              <a:t> 후 </a:t>
            </a:r>
            <a:r>
              <a:rPr sz="1400" dirty="0" err="1"/>
              <a:t>MySQL에</a:t>
            </a:r>
            <a:r>
              <a:rPr sz="1400" dirty="0"/>
              <a:t> </a:t>
            </a:r>
            <a:r>
              <a:rPr sz="1400" dirty="0" err="1"/>
              <a:t>적재하고</a:t>
            </a:r>
            <a:r>
              <a:rPr sz="1400" dirty="0"/>
              <a:t>, </a:t>
            </a:r>
            <a:r>
              <a:rPr sz="1400" dirty="0" err="1"/>
              <a:t>조회·품질·적재</a:t>
            </a:r>
            <a:r>
              <a:rPr sz="1400" dirty="0"/>
              <a:t> </a:t>
            </a:r>
            <a:r>
              <a:rPr sz="1400" dirty="0" err="1"/>
              <a:t>상태</a:t>
            </a:r>
            <a:r>
              <a:rPr sz="1400" dirty="0"/>
              <a:t> </a:t>
            </a:r>
            <a:r>
              <a:rPr sz="1400" dirty="0" err="1"/>
              <a:t>API를</a:t>
            </a:r>
            <a:r>
              <a:rPr sz="1400" dirty="0"/>
              <a:t> React </a:t>
            </a:r>
            <a:r>
              <a:rPr sz="1400" dirty="0" err="1"/>
              <a:t>대시보드에</a:t>
            </a:r>
            <a:r>
              <a:rPr sz="1400" dirty="0"/>
              <a:t> </a:t>
            </a:r>
            <a:r>
              <a:rPr sz="1400" dirty="0" err="1"/>
              <a:t>연결</a:t>
            </a:r>
            <a:endParaRPr sz="1400" dirty="0"/>
          </a:p>
        </p:txBody>
      </p:sp>
      <p:sp>
        <p:nvSpPr>
          <p:cNvPr id="12" name="Rectangle 11"/>
          <p:cNvSpPr/>
          <p:nvPr/>
        </p:nvSpPr>
        <p:spPr>
          <a:xfrm>
            <a:off x="713232" y="2743200"/>
            <a:ext cx="10881360" cy="7315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2761488"/>
            <a:ext cx="1417320" cy="51206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D2D44"/>
                </a:solidFill>
                <a:latin typeface="Aptos"/>
              </a:rPr>
              <a:t>데이터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4831" y="2761488"/>
            <a:ext cx="9281160" cy="51206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333F4E"/>
                </a:solidFill>
                <a:latin typeface="Aptos"/>
              </a:rPr>
              <a:t>기상청 ASOS API · 서울 종로구 관측 지점(108) · 시간별 관측 데이터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3310128"/>
            <a:ext cx="10881360" cy="7315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328415"/>
            <a:ext cx="1417320" cy="51206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D2D44"/>
                </a:solidFill>
                <a:latin typeface="Aptos"/>
              </a:rPr>
              <a:t>기술 스택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84831" y="3328415"/>
            <a:ext cx="9281160" cy="51206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333F4E"/>
                </a:solidFill>
                <a:latin typeface="Aptos"/>
              </a:rPr>
              <a:t>Python · Pandas · MySQL · SQLAlchemy · FastAPI · Airflow · React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3877056"/>
            <a:ext cx="10881360" cy="7315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3895344"/>
            <a:ext cx="1417320" cy="51206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D2D44"/>
                </a:solidFill>
                <a:latin typeface="Aptos"/>
              </a:rPr>
              <a:t>개발·운영 도구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84831" y="4032882"/>
            <a:ext cx="9281160" cy="23698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r>
              <a:rPr sz="1300" b="0" dirty="0">
                <a:solidFill>
                  <a:srgbClr val="333F4E"/>
                </a:solidFill>
                <a:latin typeface="Aptos"/>
              </a:rPr>
              <a:t>Docker · Git/GitHub · VS Code · MySQL Workbench · Windows/Anaconda</a:t>
            </a:r>
            <a:r>
              <a:rPr lang="en-US" sz="1300" b="0" dirty="0">
                <a:solidFill>
                  <a:srgbClr val="333F4E"/>
                </a:solidFill>
                <a:latin typeface="Aptos"/>
              </a:rPr>
              <a:t> </a:t>
            </a:r>
            <a:r>
              <a:rPr lang="en-US" altLang="ko-KR" sz="1300" dirty="0">
                <a:solidFill>
                  <a:srgbClr val="333F4E"/>
                </a:solidFill>
                <a:latin typeface="Aptos"/>
              </a:rPr>
              <a:t>· ChatGPT</a:t>
            </a:r>
            <a:endParaRPr sz="1300" b="0" dirty="0">
              <a:solidFill>
                <a:srgbClr val="333F4E"/>
              </a:solidFill>
              <a:latin typeface="Apto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13232" y="4443984"/>
            <a:ext cx="10881360" cy="7315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" y="4462272"/>
            <a:ext cx="1417320" cy="51206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D2D44"/>
                </a:solidFill>
                <a:latin typeface="Aptos"/>
              </a:rPr>
              <a:t>구현 흐름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84831" y="4592115"/>
            <a:ext cx="9281160" cy="252377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r>
              <a:rPr sz="1400" dirty="0" err="1"/>
              <a:t>기상청</a:t>
            </a:r>
            <a:r>
              <a:rPr sz="1400" dirty="0"/>
              <a:t> API → Python ETL → </a:t>
            </a:r>
            <a:r>
              <a:rPr sz="1400" dirty="0" err="1"/>
              <a:t>품질</a:t>
            </a:r>
            <a:r>
              <a:rPr sz="1400" dirty="0"/>
              <a:t> </a:t>
            </a:r>
            <a:r>
              <a:rPr sz="1400" dirty="0" err="1"/>
              <a:t>검증</a:t>
            </a:r>
            <a:r>
              <a:rPr sz="1400" dirty="0"/>
              <a:t> → MySQL UPSERT → </a:t>
            </a:r>
            <a:r>
              <a:rPr sz="1400" dirty="0" err="1"/>
              <a:t>FastAPI</a:t>
            </a:r>
            <a:r>
              <a:rPr sz="1400" dirty="0"/>
              <a:t>(</a:t>
            </a:r>
            <a:r>
              <a:rPr sz="1400" dirty="0" err="1"/>
              <a:t>조회·품질·적재</a:t>
            </a:r>
            <a:r>
              <a:rPr sz="1400" dirty="0"/>
              <a:t> </a:t>
            </a:r>
            <a:r>
              <a:rPr sz="1400" dirty="0" err="1"/>
              <a:t>상태</a:t>
            </a:r>
            <a:r>
              <a:rPr sz="1400" dirty="0"/>
              <a:t>) → React </a:t>
            </a:r>
            <a:r>
              <a:rPr sz="1400" dirty="0" err="1"/>
              <a:t>대시보드</a:t>
            </a:r>
            <a:endParaRPr sz="1400" dirty="0"/>
          </a:p>
        </p:txBody>
      </p:sp>
      <p:sp>
        <p:nvSpPr>
          <p:cNvPr id="24" name="Rectangle 23"/>
          <p:cNvSpPr/>
          <p:nvPr/>
        </p:nvSpPr>
        <p:spPr>
          <a:xfrm>
            <a:off x="713232" y="5010912"/>
            <a:ext cx="10881360" cy="7315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" y="5029200"/>
            <a:ext cx="1417320" cy="51206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D2D44"/>
                </a:solidFill>
                <a:latin typeface="Aptos"/>
              </a:rPr>
              <a:t>자동화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84831" y="5029200"/>
            <a:ext cx="9281160" cy="51206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333F4E"/>
                </a:solidFill>
                <a:latin typeface="Aptos"/>
              </a:rPr>
              <a:t>Airflow DAG: 수집 → 품질 검사 → DB 적재 · 매일 01:00 실행 스케줄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577840"/>
            <a:ext cx="10881360" cy="7315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13232" y="5715000"/>
            <a:ext cx="10881360" cy="658368"/>
          </a:xfrm>
          <a:prstGeom prst="roundRect">
            <a:avLst>
              <a:gd name="adj" fmla="val 80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86968" y="5885009"/>
            <a:ext cx="1417320" cy="221599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dirty="0" err="1">
                <a:solidFill>
                  <a:srgbClr val="002060"/>
                </a:solidFill>
                <a:latin typeface="Aptos"/>
              </a:rPr>
              <a:t>핵심</a:t>
            </a:r>
            <a:r>
              <a:rPr sz="1200" b="1" dirty="0">
                <a:solidFill>
                  <a:srgbClr val="002060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002060"/>
                </a:solidFill>
                <a:latin typeface="Aptos"/>
              </a:rPr>
              <a:t>차별화</a:t>
            </a:r>
            <a:endParaRPr sz="1200" b="1" dirty="0">
              <a:solidFill>
                <a:srgbClr val="002060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304288" y="5844843"/>
            <a:ext cx="8961120" cy="252377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r>
              <a:rPr sz="1400" dirty="0"/>
              <a:t>Airflow </a:t>
            </a:r>
            <a:r>
              <a:rPr sz="1400" dirty="0" err="1"/>
              <a:t>자동화</a:t>
            </a:r>
            <a:r>
              <a:rPr sz="1400" dirty="0"/>
              <a:t> · Docker </a:t>
            </a:r>
            <a:r>
              <a:rPr sz="1400" dirty="0" err="1"/>
              <a:t>이미지</a:t>
            </a:r>
            <a:r>
              <a:rPr sz="1400" dirty="0"/>
              <a:t>/</a:t>
            </a:r>
            <a:r>
              <a:rPr sz="1400" dirty="0" err="1"/>
              <a:t>컨테이너</a:t>
            </a:r>
            <a:r>
              <a:rPr sz="1400" dirty="0"/>
              <a:t> </a:t>
            </a:r>
            <a:r>
              <a:rPr sz="1400" dirty="0" err="1"/>
              <a:t>실행</a:t>
            </a:r>
            <a:r>
              <a:rPr sz="1400" dirty="0"/>
              <a:t> · (tm, </a:t>
            </a:r>
            <a:r>
              <a:rPr sz="1400" dirty="0" err="1"/>
              <a:t>stn</a:t>
            </a:r>
            <a:r>
              <a:rPr sz="1400" dirty="0"/>
              <a:t>) </a:t>
            </a:r>
            <a:r>
              <a:rPr sz="1400" dirty="0" err="1"/>
              <a:t>복합키</a:t>
            </a:r>
            <a:r>
              <a:rPr sz="1400" dirty="0"/>
              <a:t> UPSERT · </a:t>
            </a:r>
            <a:r>
              <a:rPr sz="1400" dirty="0" err="1"/>
              <a:t>대시보드</a:t>
            </a:r>
            <a:r>
              <a:rPr sz="1400" dirty="0"/>
              <a:t> API </a:t>
            </a:r>
            <a:r>
              <a:rPr sz="1400" dirty="0" err="1"/>
              <a:t>연동</a:t>
            </a:r>
            <a:r>
              <a:rPr sz="1400" dirty="0"/>
              <a:t> · </a:t>
            </a:r>
            <a:r>
              <a:rPr sz="1400" dirty="0" err="1"/>
              <a:t>실행</a:t>
            </a:r>
            <a:r>
              <a:rPr sz="1400" dirty="0"/>
              <a:t> </a:t>
            </a:r>
            <a:r>
              <a:rPr sz="1400" dirty="0" err="1"/>
              <a:t>결과</a:t>
            </a:r>
            <a:r>
              <a:rPr sz="1400" dirty="0"/>
              <a:t> </a:t>
            </a:r>
            <a:r>
              <a:rPr sz="1400" dirty="0" err="1"/>
              <a:t>검증</a:t>
            </a:r>
            <a:endParaRPr sz="1400" dirty="0"/>
          </a:p>
        </p:txBody>
      </p:sp>
      <p:sp>
        <p:nvSpPr>
          <p:cNvPr id="31" name="TextBox 30"/>
          <p:cNvSpPr txBox="1"/>
          <p:nvPr/>
        </p:nvSpPr>
        <p:spPr>
          <a:xfrm>
            <a:off x="11045952" y="6473952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r>
              <a:t>02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0120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lang="ko-KR" altLang="en-US" sz="2600" b="1" dirty="0">
                <a:solidFill>
                  <a:srgbClr val="162B48"/>
                </a:solidFill>
                <a:latin typeface="Aptos"/>
              </a:rPr>
              <a:t>화면구성</a:t>
            </a:r>
            <a:endParaRPr sz="2600" b="1" dirty="0">
              <a:solidFill>
                <a:srgbClr val="162B48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1097280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t>조회·품질 진단·파이프라인 적재 상태 API를 연결한 React 대시보드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2971800" cy="45262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517904"/>
            <a:ext cx="246888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2B48"/>
                </a:solidFill>
                <a:latin typeface="Aptos"/>
              </a:rPr>
              <a:t>사용자 흐름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2029968"/>
            <a:ext cx="2450592" cy="704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139696"/>
            <a:ext cx="347472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8787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103120"/>
            <a:ext cx="1737360" cy="2194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2B48"/>
                </a:solidFill>
                <a:latin typeface="Aptos"/>
              </a:rPr>
              <a:t>관측 지점 선택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2359152"/>
            <a:ext cx="1783080" cy="2194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dirty="0">
                <a:solidFill>
                  <a:srgbClr val="637381"/>
                </a:solidFill>
                <a:latin typeface="Aptos"/>
              </a:rPr>
              <a:t>예: </a:t>
            </a:r>
            <a:r>
              <a:rPr sz="1000" b="0" dirty="0" err="1">
                <a:solidFill>
                  <a:srgbClr val="637381"/>
                </a:solidFill>
                <a:latin typeface="Aptos"/>
              </a:rPr>
              <a:t>서울</a:t>
            </a:r>
            <a:r>
              <a:rPr sz="1000" b="0" dirty="0">
                <a:solidFill>
                  <a:srgbClr val="637381"/>
                </a:solidFill>
                <a:latin typeface="Aptos"/>
              </a:rPr>
              <a:t>(108)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" y="2871216"/>
            <a:ext cx="2450592" cy="704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2980944"/>
            <a:ext cx="347472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8787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2944368"/>
            <a:ext cx="1737360" cy="2194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2B48"/>
                </a:solidFill>
                <a:latin typeface="Aptos"/>
              </a:rPr>
              <a:t>조회 기간 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3200400"/>
            <a:ext cx="1783080" cy="2194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dirty="0" err="1">
                <a:solidFill>
                  <a:srgbClr val="637381"/>
                </a:solidFill>
                <a:latin typeface="Aptos"/>
              </a:rPr>
              <a:t>시작·종료</a:t>
            </a:r>
            <a:r>
              <a:rPr sz="1000" b="0" dirty="0">
                <a:solidFill>
                  <a:srgbClr val="637381"/>
                </a:solidFill>
                <a:latin typeface="Aptos"/>
              </a:rPr>
              <a:t> </a:t>
            </a:r>
            <a:r>
              <a:rPr sz="1000" b="0" dirty="0" err="1">
                <a:solidFill>
                  <a:srgbClr val="637381"/>
                </a:solidFill>
                <a:latin typeface="Aptos"/>
              </a:rPr>
              <a:t>날짜와</a:t>
            </a:r>
            <a:r>
              <a:rPr sz="1000" b="0" dirty="0">
                <a:solidFill>
                  <a:srgbClr val="637381"/>
                </a:solidFill>
                <a:latin typeface="Aptos"/>
              </a:rPr>
              <a:t> </a:t>
            </a:r>
            <a:r>
              <a:rPr sz="1000" b="0" dirty="0" err="1">
                <a:solidFill>
                  <a:srgbClr val="637381"/>
                </a:solidFill>
                <a:latin typeface="Aptos"/>
              </a:rPr>
              <a:t>시간</a:t>
            </a:r>
            <a:endParaRPr sz="1000" b="0" dirty="0">
              <a:solidFill>
                <a:srgbClr val="637381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04672" y="3712464"/>
            <a:ext cx="2450592" cy="704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3822192"/>
            <a:ext cx="347472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8787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4168" y="3785616"/>
            <a:ext cx="1737360" cy="2194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2B48"/>
                </a:solidFill>
                <a:latin typeface="Aptos"/>
              </a:rPr>
              <a:t>API 요청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4041648"/>
            <a:ext cx="1783080" cy="2194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37381"/>
                </a:solidFill>
                <a:latin typeface="Aptos"/>
              </a:rPr>
              <a:t>/api/weather에 조건 전달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" y="4553712"/>
            <a:ext cx="2450592" cy="704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4663440"/>
            <a:ext cx="347472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8787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4626864"/>
            <a:ext cx="1737360" cy="2194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2B48"/>
                </a:solidFill>
                <a:latin typeface="Aptos"/>
              </a:rPr>
              <a:t>결과 표시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4168" y="4882896"/>
            <a:ext cx="1783080" cy="2194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37381"/>
                </a:solidFill>
                <a:latin typeface="Aptos"/>
              </a:rPr>
              <a:t>응답 데이터를 화면에 반영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1205171"/>
            <a:ext cx="35661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dirty="0" err="1">
                <a:solidFill>
                  <a:srgbClr val="162B48"/>
                </a:solidFill>
                <a:latin typeface="Aptos"/>
              </a:rPr>
              <a:t>화면</a:t>
            </a:r>
            <a:r>
              <a:rPr sz="1700" b="1" dirty="0">
                <a:solidFill>
                  <a:srgbClr val="162B48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162B48"/>
                </a:solidFill>
                <a:latin typeface="Aptos"/>
              </a:rPr>
              <a:t>구성</a:t>
            </a:r>
            <a:endParaRPr sz="1700" b="1" dirty="0">
              <a:solidFill>
                <a:srgbClr val="162B48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041648" y="1965960"/>
            <a:ext cx="11430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37381"/>
                </a:solidFill>
                <a:latin typeface="Aptos"/>
              </a:rPr>
              <a:t>관측 지점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41648" y="2221992"/>
            <a:ext cx="3502152" cy="4572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87952" y="2350008"/>
            <a:ext cx="31546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A3542"/>
                </a:solidFill>
                <a:latin typeface="Aptos"/>
              </a:rPr>
              <a:t>서울 (108)                                      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41648" y="2816352"/>
            <a:ext cx="13258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37381"/>
                </a:solidFill>
                <a:latin typeface="Aptos"/>
              </a:rPr>
              <a:t>시작 일시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41648" y="3072384"/>
            <a:ext cx="1627632" cy="4572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69663" y="3200400"/>
            <a:ext cx="1353312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A3542"/>
                </a:solidFill>
                <a:latin typeface="Aptos"/>
              </a:rPr>
              <a:t>날짜 / 시  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70448" y="2816352"/>
            <a:ext cx="13258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37381"/>
                </a:solidFill>
                <a:latin typeface="Aptos"/>
              </a:rPr>
              <a:t>종료 일시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70448" y="3072384"/>
            <a:ext cx="1673352" cy="4572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98464" y="3200400"/>
            <a:ext cx="13716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A3542"/>
                </a:solidFill>
                <a:latin typeface="Aptos"/>
              </a:rPr>
              <a:t>날짜 / 시  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3950208"/>
            <a:ext cx="3063240" cy="2468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2B48"/>
                </a:solidFill>
                <a:latin typeface="Aptos"/>
              </a:rPr>
              <a:t>조회 결과 / 시간대별 그래프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370832" y="4965192"/>
            <a:ext cx="2898648" cy="0"/>
          </a:xfrm>
          <a:prstGeom prst="line">
            <a:avLst/>
          </a:prstGeom>
          <a:ln w="12700">
            <a:solidFill>
              <a:srgbClr val="DB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370832" y="4352544"/>
            <a:ext cx="0" cy="612648"/>
          </a:xfrm>
          <a:prstGeom prst="line">
            <a:avLst/>
          </a:prstGeom>
          <a:ln w="12700">
            <a:solidFill>
              <a:srgbClr val="DB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480560" y="4709160"/>
            <a:ext cx="411480" cy="118872"/>
          </a:xfrm>
          <a:prstGeom prst="line">
            <a:avLst/>
          </a:prstGeom>
          <a:ln w="25400">
            <a:solidFill>
              <a:srgbClr val="0087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892040" y="4709160"/>
            <a:ext cx="411480" cy="64008"/>
          </a:xfrm>
          <a:prstGeom prst="line">
            <a:avLst/>
          </a:prstGeom>
          <a:ln w="25400">
            <a:solidFill>
              <a:srgbClr val="0087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5303520" y="4507992"/>
            <a:ext cx="411480" cy="265176"/>
          </a:xfrm>
          <a:prstGeom prst="line">
            <a:avLst/>
          </a:prstGeom>
          <a:ln w="25400">
            <a:solidFill>
              <a:srgbClr val="0087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715000" y="4507992"/>
            <a:ext cx="411480" cy="64008"/>
          </a:xfrm>
          <a:prstGeom prst="line">
            <a:avLst/>
          </a:prstGeom>
          <a:ln w="25400">
            <a:solidFill>
              <a:srgbClr val="0087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6126480" y="4379976"/>
            <a:ext cx="411480" cy="192024"/>
          </a:xfrm>
          <a:prstGeom prst="line">
            <a:avLst/>
          </a:prstGeom>
          <a:ln w="25400">
            <a:solidFill>
              <a:srgbClr val="0087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537960" y="4379976"/>
            <a:ext cx="411480" cy="100584"/>
          </a:xfrm>
          <a:prstGeom prst="line">
            <a:avLst/>
          </a:prstGeom>
          <a:ln w="25400">
            <a:solidFill>
              <a:srgbClr val="0087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6949440" y="4279392"/>
            <a:ext cx="256032" cy="201168"/>
          </a:xfrm>
          <a:prstGeom prst="line">
            <a:avLst/>
          </a:prstGeom>
          <a:ln w="25400">
            <a:solidFill>
              <a:srgbClr val="0087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265050" y="5202936"/>
            <a:ext cx="297180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lang="ko-KR" altLang="en-US" sz="1600" b="1" dirty="0">
                <a:solidFill>
                  <a:srgbClr val="162B48"/>
                </a:solidFill>
                <a:latin typeface="Aptos"/>
              </a:rPr>
              <a:t>설명</a:t>
            </a:r>
            <a:endParaRPr sz="1600" b="1" dirty="0">
              <a:solidFill>
                <a:srgbClr val="162B48"/>
              </a:solidFill>
              <a:latin typeface="Apto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266114" y="5468799"/>
            <a:ext cx="4891866" cy="803297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200" dirty="0"/>
              <a:t>•  </a:t>
            </a:r>
            <a:r>
              <a:rPr sz="1200" dirty="0" err="1"/>
              <a:t>관측</a:t>
            </a:r>
            <a:r>
              <a:rPr sz="1200" dirty="0"/>
              <a:t> </a:t>
            </a:r>
            <a:r>
              <a:rPr sz="1200" dirty="0" err="1"/>
              <a:t>지점·조회</a:t>
            </a:r>
            <a:r>
              <a:rPr sz="1200" dirty="0"/>
              <a:t> </a:t>
            </a:r>
            <a:r>
              <a:rPr sz="1200" dirty="0" err="1"/>
              <a:t>기간을</a:t>
            </a:r>
            <a:r>
              <a:rPr sz="1200" dirty="0"/>
              <a:t> </a:t>
            </a:r>
            <a:r>
              <a:rPr sz="1200" dirty="0" err="1"/>
              <a:t>검색</a:t>
            </a:r>
            <a:r>
              <a:rPr sz="1200" dirty="0"/>
              <a:t> </a:t>
            </a:r>
            <a:r>
              <a:rPr sz="1200" dirty="0" err="1"/>
              <a:t>조건으로</a:t>
            </a:r>
            <a:r>
              <a:rPr sz="1200" dirty="0"/>
              <a:t> </a:t>
            </a:r>
            <a:r>
              <a:rPr sz="1200" dirty="0" err="1"/>
              <a:t>구성</a:t>
            </a:r>
            <a:endParaRPr sz="1200" dirty="0"/>
          </a:p>
          <a:p>
            <a:r>
              <a:rPr sz="1200" dirty="0"/>
              <a:t>•  </a:t>
            </a:r>
            <a:r>
              <a:rPr sz="1200" dirty="0" err="1"/>
              <a:t>FastAPI</a:t>
            </a:r>
            <a:r>
              <a:rPr sz="1200" dirty="0"/>
              <a:t> </a:t>
            </a:r>
            <a:r>
              <a:rPr sz="1200" dirty="0" err="1"/>
              <a:t>조회</a:t>
            </a:r>
            <a:r>
              <a:rPr sz="1200" dirty="0"/>
              <a:t> API </a:t>
            </a:r>
            <a:r>
              <a:rPr sz="1200" dirty="0" err="1"/>
              <a:t>응답을</a:t>
            </a:r>
            <a:r>
              <a:rPr sz="1200" dirty="0"/>
              <a:t> </a:t>
            </a:r>
            <a:r>
              <a:rPr sz="1200" dirty="0" err="1"/>
              <a:t>그래프·테이블로</a:t>
            </a:r>
            <a:r>
              <a:rPr sz="1200" dirty="0"/>
              <a:t> </a:t>
            </a:r>
            <a:r>
              <a:rPr sz="1200" dirty="0" err="1"/>
              <a:t>표시</a:t>
            </a:r>
            <a:endParaRPr sz="1200" dirty="0"/>
          </a:p>
          <a:p>
            <a:r>
              <a:rPr sz="1200" dirty="0"/>
              <a:t>•  </a:t>
            </a:r>
            <a:r>
              <a:rPr sz="1200" dirty="0" err="1"/>
              <a:t>품질</a:t>
            </a:r>
            <a:r>
              <a:rPr sz="1200" dirty="0"/>
              <a:t> </a:t>
            </a:r>
            <a:r>
              <a:rPr sz="1200" dirty="0" err="1"/>
              <a:t>진단</a:t>
            </a:r>
            <a:r>
              <a:rPr sz="1200" dirty="0"/>
              <a:t> API </a:t>
            </a:r>
            <a:r>
              <a:rPr sz="1200" dirty="0" err="1"/>
              <a:t>결과를</a:t>
            </a:r>
            <a:r>
              <a:rPr sz="1200" dirty="0"/>
              <a:t> </a:t>
            </a:r>
            <a:r>
              <a:rPr sz="1200" dirty="0" err="1"/>
              <a:t>화면에</a:t>
            </a:r>
            <a:r>
              <a:rPr sz="1200" dirty="0"/>
              <a:t> </a:t>
            </a:r>
            <a:r>
              <a:rPr sz="1200" dirty="0" err="1"/>
              <a:t>연동</a:t>
            </a:r>
            <a:endParaRPr sz="1200" dirty="0"/>
          </a:p>
          <a:p>
            <a:r>
              <a:rPr sz="1200" dirty="0"/>
              <a:t>•  </a:t>
            </a:r>
            <a:r>
              <a:rPr sz="1200" dirty="0" err="1"/>
              <a:t>파이프라인</a:t>
            </a:r>
            <a:r>
              <a:rPr sz="1200" dirty="0"/>
              <a:t> </a:t>
            </a:r>
            <a:r>
              <a:rPr sz="1200" dirty="0" err="1"/>
              <a:t>실행</a:t>
            </a:r>
            <a:r>
              <a:rPr sz="1200" dirty="0"/>
              <a:t> </a:t>
            </a:r>
            <a:r>
              <a:rPr sz="1200" dirty="0" err="1"/>
              <a:t>이력</a:t>
            </a:r>
            <a:r>
              <a:rPr sz="1200" dirty="0"/>
              <a:t>/</a:t>
            </a:r>
            <a:r>
              <a:rPr sz="1200" dirty="0" err="1"/>
              <a:t>적재</a:t>
            </a:r>
            <a:r>
              <a:rPr sz="1200" dirty="0"/>
              <a:t> </a:t>
            </a:r>
            <a:r>
              <a:rPr sz="1200" dirty="0" err="1"/>
              <a:t>상태</a:t>
            </a:r>
            <a:r>
              <a:rPr sz="1200" dirty="0"/>
              <a:t> API </a:t>
            </a:r>
            <a:r>
              <a:rPr sz="1200" dirty="0" err="1"/>
              <a:t>결과를</a:t>
            </a:r>
            <a:r>
              <a:rPr sz="1200" dirty="0"/>
              <a:t> </a:t>
            </a:r>
            <a:r>
              <a:rPr sz="1200" dirty="0" err="1"/>
              <a:t>화면에</a:t>
            </a:r>
            <a:r>
              <a:rPr sz="1200" dirty="0"/>
              <a:t> </a:t>
            </a:r>
            <a:r>
              <a:rPr sz="1200" dirty="0" err="1"/>
              <a:t>표시</a:t>
            </a:r>
            <a:endParaRPr sz="1200" dirty="0"/>
          </a:p>
        </p:txBody>
      </p:sp>
      <p:sp>
        <p:nvSpPr>
          <p:cNvPr id="52" name="TextBox 51"/>
          <p:cNvSpPr txBox="1"/>
          <p:nvPr/>
        </p:nvSpPr>
        <p:spPr>
          <a:xfrm>
            <a:off x="594360" y="6318504"/>
            <a:ext cx="109728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t>핵심: 조회 조건 → API 요청 → 조회·품질·적재 상태 응답 → 대시보드 시각화</a:t>
            </a: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D00E42FF-6ABB-FE1D-CA6F-B01BA98B2D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1505934"/>
            <a:ext cx="4326129" cy="3423384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504278C3-2944-13FF-C5DE-746F46DF44C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344" t="6046" r="1407"/>
          <a:stretch>
            <a:fillRect/>
          </a:stretch>
        </p:blipFill>
        <p:spPr>
          <a:xfrm>
            <a:off x="3659185" y="1609743"/>
            <a:ext cx="3502152" cy="3578356"/>
          </a:xfrm>
          <a:prstGeom prst="rect">
            <a:avLst/>
          </a:prstGeom>
        </p:spPr>
      </p:pic>
      <p:sp>
        <p:nvSpPr>
          <p:cNvPr id="53" name="직사각형 52">
            <a:extLst>
              <a:ext uri="{FF2B5EF4-FFF2-40B4-BE49-F238E27FC236}">
                <a16:creationId xmlns:a16="http://schemas.microsoft.com/office/drawing/2014/main" id="{11A4406C-3649-009B-262E-6902D112D5DF}"/>
              </a:ext>
            </a:extLst>
          </p:cNvPr>
          <p:cNvSpPr/>
          <p:nvPr/>
        </p:nvSpPr>
        <p:spPr>
          <a:xfrm>
            <a:off x="3520440" y="5614416"/>
            <a:ext cx="850392" cy="512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0819EA2-5AD1-E0C3-A786-A79AF9ADAE09}"/>
              </a:ext>
            </a:extLst>
          </p:cNvPr>
          <p:cNvSpPr txBox="1"/>
          <p:nvPr/>
        </p:nvSpPr>
        <p:spPr>
          <a:xfrm>
            <a:off x="434340" y="177948"/>
            <a:ext cx="5486400" cy="166199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900" b="1" dirty="0">
                <a:solidFill>
                  <a:srgbClr val="2B3036"/>
                </a:solidFill>
                <a:latin typeface="Aptos"/>
              </a:rPr>
              <a:t>02.</a:t>
            </a:r>
            <a:endParaRPr sz="900" b="1" dirty="0">
              <a:solidFill>
                <a:srgbClr val="2B3036"/>
              </a:solidFill>
              <a:latin typeface="Aptos"/>
            </a:endParaRPr>
          </a:p>
        </p:txBody>
      </p:sp>
      <p:pic>
        <p:nvPicPr>
          <p:cNvPr id="58" name="2026-10-19 기상청 시연 영상">
            <a:hlinkClick r:id="" action="ppaction://media"/>
            <a:extLst>
              <a:ext uri="{FF2B5EF4-FFF2-40B4-BE49-F238E27FC236}">
                <a16:creationId xmlns:a16="http://schemas.microsoft.com/office/drawing/2014/main" id="{184BDAE4-D0A8-0251-5C19-56A302350E3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476305" y="1546166"/>
            <a:ext cx="4283324" cy="35378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000" fill="hold"/>
                                        <p:tgtEl>
                                          <p:spTgt spid="5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54864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00777C"/>
                </a:solidFill>
                <a:latin typeface="Aptos"/>
              </a:defRPr>
            </a:pPr>
            <a:r>
              <a:rPr lang="en-US" dirty="0">
                <a:solidFill>
                  <a:srgbClr val="002060"/>
                </a:solidFill>
              </a:rPr>
              <a:t>03.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75488" y="530352"/>
            <a:ext cx="1097280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1B2B3F"/>
                </a:solidFill>
                <a:latin typeface="Aptos"/>
              </a:defRPr>
            </a:pPr>
            <a:r>
              <a:t>MySQL DB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987552"/>
            <a:ext cx="10972800" cy="21698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4707C"/>
                </a:solidFill>
                <a:latin typeface="Aptos"/>
              </a:defRPr>
            </a:pPr>
            <a:r>
              <a:rPr dirty="0" err="1">
                <a:solidFill>
                  <a:srgbClr val="002060"/>
                </a:solidFill>
              </a:rPr>
              <a:t>시간별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관측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데이터를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식별하고</a:t>
            </a:r>
            <a:r>
              <a:rPr dirty="0">
                <a:solidFill>
                  <a:srgbClr val="002060"/>
                </a:solidFill>
              </a:rPr>
              <a:t>, </a:t>
            </a:r>
            <a:r>
              <a:rPr dirty="0" err="1">
                <a:solidFill>
                  <a:srgbClr val="002060"/>
                </a:solidFill>
              </a:rPr>
              <a:t>재수집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데이터의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중복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적재를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방지하는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구조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93776" y="1353312"/>
            <a:ext cx="11155680" cy="13716"/>
          </a:xfrm>
          <a:prstGeom prst="rect">
            <a:avLst/>
          </a:prstGeom>
          <a:solidFill>
            <a:srgbClr val="1B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1508760"/>
            <a:ext cx="10972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B2B3F"/>
                </a:solidFill>
                <a:latin typeface="Aptos"/>
              </a:defRPr>
            </a:pPr>
            <a:r>
              <a:t>테이블: weather_observation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810512"/>
            <a:ext cx="1143000" cy="283464"/>
          </a:xfrm>
          <a:prstGeom prst="rect">
            <a:avLst/>
          </a:prstGeom>
          <a:solidFill>
            <a:srgbClr val="1B2B3F"/>
          </a:solidFill>
          <a:ln w="8890"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5215" y="1842516"/>
            <a:ext cx="1033271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  <a:defRPr sz="919" b="1">
                <a:solidFill>
                  <a:srgbClr val="FFFFFF"/>
                </a:solidFill>
                <a:latin typeface="Aptos"/>
              </a:defRPr>
            </a:pPr>
            <a:r>
              <a:t>구분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73352" y="1810512"/>
            <a:ext cx="1554480" cy="283464"/>
          </a:xfrm>
          <a:prstGeom prst="rect">
            <a:avLst/>
          </a:prstGeom>
          <a:solidFill>
            <a:srgbClr val="1B2B3F"/>
          </a:solidFill>
          <a:ln w="8890"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28216" y="1842516"/>
            <a:ext cx="1444752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  <a:defRPr sz="919" b="1">
                <a:solidFill>
                  <a:srgbClr val="FFFFFF"/>
                </a:solidFill>
                <a:latin typeface="Aptos"/>
              </a:defRPr>
            </a:pPr>
            <a:r>
              <a:t>컬럼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27832" y="1810512"/>
            <a:ext cx="2331720" cy="283464"/>
          </a:xfrm>
          <a:prstGeom prst="rect">
            <a:avLst/>
          </a:prstGeom>
          <a:solidFill>
            <a:srgbClr val="1B2B3F"/>
          </a:solidFill>
          <a:ln w="8890"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82696" y="1842516"/>
            <a:ext cx="2221991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  <a:defRPr sz="919" b="1">
                <a:solidFill>
                  <a:srgbClr val="FFFFFF"/>
                </a:solidFill>
                <a:latin typeface="Aptos"/>
              </a:defRPr>
            </a:pPr>
            <a:r>
              <a:t>자료형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59552" y="1810512"/>
            <a:ext cx="5486400" cy="283464"/>
          </a:xfrm>
          <a:prstGeom prst="rect">
            <a:avLst/>
          </a:prstGeom>
          <a:solidFill>
            <a:srgbClr val="1B2B3F"/>
          </a:solidFill>
          <a:ln w="8890"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14416" y="1842516"/>
            <a:ext cx="5376672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  <a:defRPr sz="919" b="1">
                <a:solidFill>
                  <a:srgbClr val="FFFFFF"/>
                </a:solidFill>
                <a:latin typeface="Aptos"/>
              </a:defRPr>
            </a:pPr>
            <a:r>
              <a:t>설명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2093976"/>
            <a:ext cx="1143000" cy="283464"/>
          </a:xfrm>
          <a:prstGeom prst="rect">
            <a:avLst/>
          </a:prstGeom>
          <a:solidFill>
            <a:srgbClr val="FFFFFF"/>
          </a:solidFill>
          <a:ln w="8890"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5215" y="2125980"/>
            <a:ext cx="1033271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  <a:defRPr sz="919" b="1">
                <a:solidFill>
                  <a:srgbClr val="2D374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73352" y="2093976"/>
            <a:ext cx="1554480" cy="283464"/>
          </a:xfrm>
          <a:prstGeom prst="rect">
            <a:avLst/>
          </a:prstGeom>
          <a:solidFill>
            <a:srgbClr val="FFFFFF"/>
          </a:solidFill>
          <a:ln w="8890"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728216" y="2125980"/>
            <a:ext cx="1444752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  <a:defRPr sz="919" b="1">
                <a:solidFill>
                  <a:srgbClr val="2D3742"/>
                </a:solidFill>
                <a:latin typeface="Aptos"/>
              </a:defRPr>
            </a:pPr>
            <a:r>
              <a:rPr dirty="0"/>
              <a:t>tm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27832" y="2093976"/>
            <a:ext cx="2331720" cy="283464"/>
          </a:xfrm>
          <a:prstGeom prst="rect">
            <a:avLst/>
          </a:prstGeom>
          <a:solidFill>
            <a:srgbClr val="FFFFFF"/>
          </a:solidFill>
          <a:ln w="8890"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82696" y="2125980"/>
            <a:ext cx="2221991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2D3742"/>
                </a:solidFill>
                <a:latin typeface="Aptos"/>
              </a:defRPr>
            </a:pPr>
            <a:r>
              <a:t>DATETIME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59552" y="2093976"/>
            <a:ext cx="5486400" cy="283464"/>
          </a:xfrm>
          <a:prstGeom prst="rect">
            <a:avLst/>
          </a:prstGeom>
          <a:solidFill>
            <a:srgbClr val="FFFFFF"/>
          </a:solidFill>
          <a:ln w="8890"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14416" y="2125980"/>
            <a:ext cx="5376672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2D3742"/>
                </a:solidFill>
                <a:latin typeface="Aptos"/>
              </a:defRPr>
            </a:pPr>
            <a:r>
              <a:t>관측 시각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" y="2377440"/>
            <a:ext cx="1143000" cy="283464"/>
          </a:xfrm>
          <a:prstGeom prst="rect">
            <a:avLst/>
          </a:prstGeom>
          <a:solidFill>
            <a:srgbClr val="F1F5F8"/>
          </a:solidFill>
          <a:ln w="8890"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5215" y="2409444"/>
            <a:ext cx="1033271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  <a:defRPr sz="919" b="1">
                <a:solidFill>
                  <a:srgbClr val="2D374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73352" y="2377440"/>
            <a:ext cx="1554480" cy="283464"/>
          </a:xfrm>
          <a:prstGeom prst="rect">
            <a:avLst/>
          </a:prstGeom>
          <a:solidFill>
            <a:srgbClr val="F1F5F8"/>
          </a:solidFill>
          <a:ln w="8890"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728216" y="2409444"/>
            <a:ext cx="1444752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  <a:defRPr sz="919" b="1">
                <a:solidFill>
                  <a:srgbClr val="2D3742"/>
                </a:solidFill>
                <a:latin typeface="Aptos"/>
              </a:defRPr>
            </a:pPr>
            <a:r>
              <a:t>stn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27832" y="2377440"/>
            <a:ext cx="2331720" cy="283464"/>
          </a:xfrm>
          <a:prstGeom prst="rect">
            <a:avLst/>
          </a:prstGeom>
          <a:solidFill>
            <a:srgbClr val="F1F5F8"/>
          </a:solidFill>
          <a:ln w="8890"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82696" y="2409444"/>
            <a:ext cx="2221991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2D3742"/>
                </a:solidFill>
                <a:latin typeface="Aptos"/>
              </a:defRPr>
            </a:pPr>
            <a:r>
              <a:t>VARCHAR(10)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59552" y="2377440"/>
            <a:ext cx="5486400" cy="283464"/>
          </a:xfrm>
          <a:prstGeom prst="rect">
            <a:avLst/>
          </a:prstGeom>
          <a:solidFill>
            <a:srgbClr val="F1F5F8"/>
          </a:solidFill>
          <a:ln w="8890"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14416" y="2409444"/>
            <a:ext cx="5376672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2D3742"/>
                </a:solidFill>
                <a:latin typeface="Aptos"/>
              </a:defRPr>
            </a:pPr>
            <a:r>
              <a:t>관측 지점 코드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" y="2660904"/>
            <a:ext cx="1143000" cy="283464"/>
          </a:xfrm>
          <a:prstGeom prst="rect">
            <a:avLst/>
          </a:prstGeom>
          <a:solidFill>
            <a:srgbClr val="FFFFFF"/>
          </a:solidFill>
          <a:ln w="8890"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85215" y="2692908"/>
            <a:ext cx="1033271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  <a:defRPr sz="919" b="1">
                <a:solidFill>
                  <a:srgbClr val="2D3742"/>
                </a:solidFill>
                <a:latin typeface="Aptos"/>
              </a:defRPr>
            </a:pPr>
            <a:r>
              <a:rPr dirty="0" err="1"/>
              <a:t>측정값</a:t>
            </a:r>
            <a:endParaRPr dirty="0"/>
          </a:p>
        </p:txBody>
      </p:sp>
      <p:sp>
        <p:nvSpPr>
          <p:cNvPr id="34" name="Rectangle 33"/>
          <p:cNvSpPr/>
          <p:nvPr/>
        </p:nvSpPr>
        <p:spPr>
          <a:xfrm>
            <a:off x="1673352" y="2660904"/>
            <a:ext cx="1554480" cy="283464"/>
          </a:xfrm>
          <a:prstGeom prst="rect">
            <a:avLst/>
          </a:prstGeom>
          <a:solidFill>
            <a:srgbClr val="FFFFFF"/>
          </a:solidFill>
          <a:ln w="8890"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728216" y="2692908"/>
            <a:ext cx="1444752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2D3742"/>
                </a:solidFill>
                <a:latin typeface="Aptos"/>
              </a:defRPr>
            </a:pPr>
            <a:r>
              <a:t>wd / 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27832" y="2660904"/>
            <a:ext cx="2331720" cy="283464"/>
          </a:xfrm>
          <a:prstGeom prst="rect">
            <a:avLst/>
          </a:prstGeom>
          <a:solidFill>
            <a:srgbClr val="FFFFFF"/>
          </a:solidFill>
          <a:ln w="8890"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82696" y="2692908"/>
            <a:ext cx="2221991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2D3742"/>
                </a:solidFill>
                <a:latin typeface="Aptos"/>
              </a:defRPr>
            </a:pPr>
            <a:r>
              <a:t>INT / FLOAT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59552" y="2660904"/>
            <a:ext cx="5486400" cy="283464"/>
          </a:xfrm>
          <a:prstGeom prst="rect">
            <a:avLst/>
          </a:prstGeom>
          <a:solidFill>
            <a:srgbClr val="FFFFFF"/>
          </a:solidFill>
          <a:ln w="8890"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614416" y="2692908"/>
            <a:ext cx="5376672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2D3742"/>
                </a:solidFill>
                <a:latin typeface="Aptos"/>
              </a:defRPr>
            </a:pPr>
            <a:r>
              <a:t>풍향 / 풍속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0352" y="2944368"/>
            <a:ext cx="1143000" cy="283464"/>
          </a:xfrm>
          <a:prstGeom prst="rect">
            <a:avLst/>
          </a:prstGeom>
          <a:solidFill>
            <a:srgbClr val="F1F5F8"/>
          </a:solidFill>
          <a:ln w="8890"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85215" y="2976372"/>
            <a:ext cx="1033271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  <a:defRPr sz="919" b="1">
                <a:solidFill>
                  <a:srgbClr val="2D3742"/>
                </a:solidFill>
                <a:latin typeface="Aptos"/>
              </a:defRPr>
            </a:pPr>
            <a:r>
              <a:t>측정값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73352" y="2944368"/>
            <a:ext cx="1554480" cy="283464"/>
          </a:xfrm>
          <a:prstGeom prst="rect">
            <a:avLst/>
          </a:prstGeom>
          <a:solidFill>
            <a:srgbClr val="F1F5F8"/>
          </a:solidFill>
          <a:ln w="8890"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728216" y="2976372"/>
            <a:ext cx="1444752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2D3742"/>
                </a:solidFill>
                <a:latin typeface="Aptos"/>
              </a:defRPr>
            </a:pPr>
            <a:r>
              <a:t>pa / ps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27832" y="2944368"/>
            <a:ext cx="2331720" cy="283464"/>
          </a:xfrm>
          <a:prstGeom prst="rect">
            <a:avLst/>
          </a:prstGeom>
          <a:solidFill>
            <a:srgbClr val="F1F5F8"/>
          </a:solidFill>
          <a:ln w="8890"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282696" y="2976372"/>
            <a:ext cx="2221991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2D3742"/>
                </a:solidFill>
                <a:latin typeface="Aptos"/>
              </a:defRPr>
            </a:pPr>
            <a:r>
              <a:t>FLOAT / FLOAT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59552" y="2944368"/>
            <a:ext cx="5486400" cy="283464"/>
          </a:xfrm>
          <a:prstGeom prst="rect">
            <a:avLst/>
          </a:prstGeom>
          <a:solidFill>
            <a:srgbClr val="F1F5F8"/>
          </a:solidFill>
          <a:ln w="8890"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614416" y="2976372"/>
            <a:ext cx="5376672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2D3742"/>
                </a:solidFill>
                <a:latin typeface="Aptos"/>
              </a:defRPr>
            </a:pPr>
            <a:r>
              <a:t>현지기압 / 해면기압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0352" y="3227832"/>
            <a:ext cx="1143000" cy="283464"/>
          </a:xfrm>
          <a:prstGeom prst="rect">
            <a:avLst/>
          </a:prstGeom>
          <a:solidFill>
            <a:srgbClr val="FFFFFF"/>
          </a:solidFill>
          <a:ln w="8890"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85215" y="3259836"/>
            <a:ext cx="1033271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  <a:defRPr sz="919" b="1">
                <a:solidFill>
                  <a:srgbClr val="2D3742"/>
                </a:solidFill>
                <a:latin typeface="Aptos"/>
              </a:defRPr>
            </a:pPr>
            <a:r>
              <a:t>측정값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673352" y="3227832"/>
            <a:ext cx="1554480" cy="283464"/>
          </a:xfrm>
          <a:prstGeom prst="rect">
            <a:avLst/>
          </a:prstGeom>
          <a:solidFill>
            <a:srgbClr val="FFFFFF"/>
          </a:solidFill>
          <a:ln w="8890"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728216" y="3259836"/>
            <a:ext cx="1444752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2D3742"/>
                </a:solidFill>
                <a:latin typeface="Aptos"/>
              </a:defRPr>
            </a:pPr>
            <a:r>
              <a:t>ta / td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27832" y="3227832"/>
            <a:ext cx="2331720" cy="283464"/>
          </a:xfrm>
          <a:prstGeom prst="rect">
            <a:avLst/>
          </a:prstGeom>
          <a:solidFill>
            <a:srgbClr val="FFFFFF"/>
          </a:solidFill>
          <a:ln w="8890"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282696" y="3259836"/>
            <a:ext cx="2221991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2D3742"/>
                </a:solidFill>
                <a:latin typeface="Aptos"/>
              </a:defRPr>
            </a:pPr>
            <a:r>
              <a:t>FLOAT / FLOAT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59552" y="3227832"/>
            <a:ext cx="5486400" cy="283464"/>
          </a:xfrm>
          <a:prstGeom prst="rect">
            <a:avLst/>
          </a:prstGeom>
          <a:solidFill>
            <a:srgbClr val="FFFFFF"/>
          </a:solidFill>
          <a:ln w="8890"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614416" y="3259836"/>
            <a:ext cx="5376672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2D3742"/>
                </a:solidFill>
                <a:latin typeface="Aptos"/>
              </a:defRPr>
            </a:pPr>
            <a:r>
              <a:t>기온 / 이슬점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0352" y="3511296"/>
            <a:ext cx="1143000" cy="283464"/>
          </a:xfrm>
          <a:prstGeom prst="rect">
            <a:avLst/>
          </a:prstGeom>
          <a:solidFill>
            <a:srgbClr val="F1F5F8"/>
          </a:solidFill>
          <a:ln w="8890"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85215" y="3543300"/>
            <a:ext cx="1033271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  <a:defRPr sz="919" b="1">
                <a:solidFill>
                  <a:srgbClr val="2D3742"/>
                </a:solidFill>
                <a:latin typeface="Aptos"/>
              </a:defRPr>
            </a:pPr>
            <a:r>
              <a:t>측정값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73352" y="3511296"/>
            <a:ext cx="1554480" cy="283464"/>
          </a:xfrm>
          <a:prstGeom prst="rect">
            <a:avLst/>
          </a:prstGeom>
          <a:solidFill>
            <a:srgbClr val="F1F5F8"/>
          </a:solidFill>
          <a:ln w="8890"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728216" y="3543300"/>
            <a:ext cx="1444752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2D3742"/>
                </a:solidFill>
                <a:latin typeface="Aptos"/>
              </a:defRPr>
            </a:pPr>
            <a:r>
              <a:t>hm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27832" y="3511296"/>
            <a:ext cx="2331720" cy="283464"/>
          </a:xfrm>
          <a:prstGeom prst="rect">
            <a:avLst/>
          </a:prstGeom>
          <a:solidFill>
            <a:srgbClr val="F1F5F8"/>
          </a:solidFill>
          <a:ln w="8890"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282696" y="3543300"/>
            <a:ext cx="2221991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2D3742"/>
                </a:solidFill>
                <a:latin typeface="Aptos"/>
              </a:defRPr>
            </a:pPr>
            <a:r>
              <a:t>FLOAT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59552" y="3511296"/>
            <a:ext cx="5486400" cy="283464"/>
          </a:xfrm>
          <a:prstGeom prst="rect">
            <a:avLst/>
          </a:prstGeom>
          <a:solidFill>
            <a:srgbClr val="F1F5F8"/>
          </a:solidFill>
          <a:ln w="8890"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614416" y="3543300"/>
            <a:ext cx="5376672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2D3742"/>
                </a:solidFill>
                <a:latin typeface="Aptos"/>
              </a:defRPr>
            </a:pPr>
            <a:r>
              <a:t>상대습도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0352" y="3959352"/>
            <a:ext cx="5468112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B2B3F"/>
                </a:solidFill>
                <a:latin typeface="Aptos"/>
              </a:defRPr>
            </a:pPr>
            <a:r>
              <a:t>저장 쿼리 | UPSERT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0352" y="4215384"/>
            <a:ext cx="5468112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4707C"/>
                </a:solidFill>
                <a:latin typeface="Aptos"/>
              </a:defRPr>
            </a:pPr>
            <a:r>
              <a:rPr dirty="0" err="1"/>
              <a:t>중복</a:t>
            </a:r>
            <a:r>
              <a:rPr dirty="0"/>
              <a:t> 키 </a:t>
            </a:r>
            <a:r>
              <a:rPr dirty="0" err="1"/>
              <a:t>발생</a:t>
            </a:r>
            <a:r>
              <a:rPr dirty="0"/>
              <a:t> 시 </a:t>
            </a:r>
            <a:r>
              <a:rPr dirty="0" err="1"/>
              <a:t>기존</a:t>
            </a:r>
            <a:r>
              <a:rPr dirty="0"/>
              <a:t> </a:t>
            </a:r>
            <a:r>
              <a:rPr dirty="0" err="1"/>
              <a:t>유효값을</a:t>
            </a:r>
            <a:r>
              <a:rPr dirty="0"/>
              <a:t> </a:t>
            </a:r>
            <a:r>
              <a:rPr dirty="0" err="1"/>
              <a:t>유지하고</a:t>
            </a:r>
            <a:r>
              <a:rPr dirty="0"/>
              <a:t> </a:t>
            </a:r>
            <a:r>
              <a:rPr dirty="0" err="1"/>
              <a:t>NULL만</a:t>
            </a:r>
            <a:r>
              <a:rPr dirty="0"/>
              <a:t> </a:t>
            </a:r>
            <a:r>
              <a:rPr dirty="0" err="1"/>
              <a:t>보완</a:t>
            </a:r>
            <a:endParaRPr dirty="0"/>
          </a:p>
        </p:txBody>
      </p:sp>
      <p:sp>
        <p:nvSpPr>
          <p:cNvPr id="66" name="Rectangle 65"/>
          <p:cNvSpPr/>
          <p:nvPr/>
        </p:nvSpPr>
        <p:spPr>
          <a:xfrm>
            <a:off x="530352" y="4462272"/>
            <a:ext cx="5468112" cy="1417320"/>
          </a:xfrm>
          <a:prstGeom prst="rect">
            <a:avLst/>
          </a:prstGeom>
          <a:solidFill>
            <a:srgbClr val="1F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49224" y="4544568"/>
            <a:ext cx="5230368" cy="12618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EDF2F6"/>
                </a:solidFill>
                <a:latin typeface="Consolas"/>
              </a:defRPr>
            </a:pPr>
            <a:r>
              <a:t>INSERT INTO weather_observation</a:t>
            </a:r>
            <a:br/>
            <a:r>
              <a:t>  (tm, stn, wd, ws, pa, ps, ta, td, hm)</a:t>
            </a:r>
            <a:br/>
            <a:r>
              <a:t>VALUES</a:t>
            </a:r>
            <a:br/>
            <a:r>
              <a:t>  (:tm, :stn, :wd, :ws, :pa, :ps, :ta, :td, :hm)</a:t>
            </a:r>
            <a:br/>
            <a:r>
              <a:t>AS new</a:t>
            </a:r>
            <a:br/>
            <a:r>
              <a:t>ON DUPLICATE KEY UPDATE</a:t>
            </a:r>
            <a:br/>
            <a:r>
              <a:t>  ta = COALESCE(weather_observation.ta, new.ta),</a:t>
            </a:r>
            <a:br/>
            <a:r>
              <a:t>  td = COALESCE(weather_observation.td, new.td),</a:t>
            </a:r>
            <a:br/>
            <a:r>
              <a:t>  hm = COALESCE(weather_observation.hm, new.hm);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0352" y="5943600"/>
            <a:ext cx="5468112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  <a:defRPr sz="919" b="1">
                <a:solidFill>
                  <a:srgbClr val="00777C"/>
                </a:solidFill>
                <a:latin typeface="Aptos"/>
              </a:defRPr>
            </a:pPr>
            <a:r>
              <a:t>핵심: (tm, stn) 복합 기본키 · 기존 NULL 값 보완 정책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72200" y="3959352"/>
            <a:ext cx="5468112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B2B3F"/>
                </a:solidFill>
                <a:latin typeface="Aptos"/>
              </a:defRPr>
            </a:pPr>
            <a:r>
              <a:rPr dirty="0" err="1"/>
              <a:t>조회</a:t>
            </a:r>
            <a:r>
              <a:rPr dirty="0"/>
              <a:t> </a:t>
            </a:r>
            <a:r>
              <a:rPr dirty="0" err="1"/>
              <a:t>쿼리</a:t>
            </a:r>
            <a:r>
              <a:rPr dirty="0"/>
              <a:t> | </a:t>
            </a:r>
            <a:r>
              <a:rPr dirty="0" err="1"/>
              <a:t>날짜별</a:t>
            </a:r>
            <a:r>
              <a:rPr dirty="0"/>
              <a:t> </a:t>
            </a:r>
            <a:r>
              <a:rPr dirty="0" err="1"/>
              <a:t>관측값</a:t>
            </a:r>
            <a:endParaRPr dirty="0"/>
          </a:p>
        </p:txBody>
      </p:sp>
      <p:sp>
        <p:nvSpPr>
          <p:cNvPr id="70" name="TextBox 69"/>
          <p:cNvSpPr txBox="1"/>
          <p:nvPr/>
        </p:nvSpPr>
        <p:spPr>
          <a:xfrm>
            <a:off x="6172200" y="4215384"/>
            <a:ext cx="5468112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4707C"/>
                </a:solidFill>
                <a:latin typeface="Aptos"/>
              </a:defRPr>
            </a:pPr>
            <a:r>
              <a:t>날짜 범위 조건과 시간순 정렬로 조회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172200" y="4462272"/>
            <a:ext cx="5468112" cy="1417320"/>
          </a:xfrm>
          <a:prstGeom prst="rect">
            <a:avLst/>
          </a:prstGeom>
          <a:solidFill>
            <a:srgbClr val="1F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291072" y="4599432"/>
            <a:ext cx="5230368" cy="10789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EDF2F6"/>
                </a:solidFill>
                <a:latin typeface="Consolas"/>
              </a:defRPr>
            </a:pPr>
            <a:r>
              <a:t>SELECT tm, stn, ta, td, hm, ws, wd, pa, ps</a:t>
            </a:r>
            <a:br/>
            <a:r>
              <a:t>FROM weather_observation</a:t>
            </a:r>
            <a:br/>
            <a:r>
              <a:t>WHERE tm &gt;= '2026-10-17 00:00:00'</a:t>
            </a:r>
            <a:br/>
            <a:r>
              <a:t>  AND tm &lt;  '2026-10-18 00:00:00'</a:t>
            </a:r>
            <a:br/>
            <a:r>
              <a:t>ORDER BY tm ASC;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72200" y="5943600"/>
            <a:ext cx="5468112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  <a:defRPr sz="919" b="1">
                <a:solidFill>
                  <a:srgbClr val="00777C"/>
                </a:solidFill>
                <a:latin typeface="Aptos"/>
              </a:defRPr>
            </a:pPr>
            <a:r>
              <a:t>활용: FastAPI에서 날짜별 관측 데이터 조회에 활용 가능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137392" y="6510528"/>
            <a:ext cx="5029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4707C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19456"/>
            <a:ext cx="69494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007E82"/>
                </a:solidFill>
                <a:latin typeface="Aptos"/>
              </a:defRPr>
            </a:pPr>
            <a:r>
              <a:rPr lang="en-US" dirty="0">
                <a:solidFill>
                  <a:srgbClr val="002060"/>
                </a:solidFill>
              </a:rPr>
              <a:t>04.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8912" y="475488"/>
            <a:ext cx="11155680" cy="429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182B44"/>
                </a:solidFill>
                <a:latin typeface="Aptos"/>
              </a:defRPr>
            </a:pPr>
            <a:r>
              <a:t>데이터 적재 안정성 개선 | UPSERT 적용 및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0642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D6C7B"/>
                </a:solidFill>
                <a:latin typeface="Aptos"/>
              </a:defRPr>
            </a:pPr>
            <a:r>
              <a:t>목표: 재수집 데이터의 중복 키 충돌 방지 · 기존 유효값 보존 · 결측값 보완 정책 적용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3" y="1463040"/>
            <a:ext cx="5294376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82B44"/>
                </a:solidFill>
                <a:latin typeface="Aptos"/>
              </a:defRPr>
            </a:pPr>
            <a:r>
              <a:t>개선 내용 및 검증 기준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3" y="1828800"/>
            <a:ext cx="1069848" cy="384048"/>
          </a:xfrm>
          <a:prstGeom prst="rect">
            <a:avLst/>
          </a:prstGeom>
          <a:solidFill>
            <a:srgbClr val="18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883664"/>
            <a:ext cx="960119" cy="292607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구분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73351" y="1828800"/>
            <a:ext cx="2240280" cy="384048"/>
          </a:xfrm>
          <a:prstGeom prst="rect">
            <a:avLst/>
          </a:prstGeom>
          <a:solidFill>
            <a:srgbClr val="18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28216" y="1883664"/>
            <a:ext cx="2130552" cy="292607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적용 내용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13632" y="1828800"/>
            <a:ext cx="1828800" cy="384048"/>
          </a:xfrm>
          <a:prstGeom prst="rect">
            <a:avLst/>
          </a:prstGeom>
          <a:solidFill>
            <a:srgbClr val="18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68496" y="1883664"/>
            <a:ext cx="1719072" cy="292607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확인 기준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3" y="2212848"/>
            <a:ext cx="1069848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2249424"/>
            <a:ext cx="960119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  <a:defRPr sz="930" b="1">
                <a:solidFill>
                  <a:srgbClr val="007E82"/>
                </a:solidFill>
                <a:latin typeface="Aptos"/>
              </a:defRPr>
            </a:pPr>
            <a:r>
              <a:t>수집·검증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73351" y="2212848"/>
            <a:ext cx="22402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728216" y="2249424"/>
            <a:ext cx="2130552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  <a:defRPr sz="930" b="0">
                <a:solidFill>
                  <a:srgbClr val="2A3543"/>
                </a:solidFill>
                <a:latin typeface="Aptos"/>
              </a:defRPr>
            </a:pPr>
            <a:r>
              <a:t>기상청 API → Python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13632" y="2212848"/>
            <a:ext cx="182880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68496" y="2249424"/>
            <a:ext cx="1719072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  <a:defRPr sz="930" b="0">
                <a:solidFill>
                  <a:srgbClr val="2A3543"/>
                </a:solidFill>
                <a:latin typeface="Aptos"/>
              </a:defRPr>
            </a:pPr>
            <a:r>
              <a:t>품질검사 PASS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3" y="2596896"/>
            <a:ext cx="1069848" cy="384048"/>
          </a:xfrm>
          <a:prstGeom prst="rect">
            <a:avLst/>
          </a:prstGeom>
          <a:solidFill>
            <a:srgbClr val="F3F7FA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2633472"/>
            <a:ext cx="960119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  <a:defRPr sz="930" b="1">
                <a:solidFill>
                  <a:srgbClr val="007E82"/>
                </a:solidFill>
                <a:latin typeface="Aptos"/>
              </a:defRPr>
            </a:pPr>
            <a:r>
              <a:t>품질 규칙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73351" y="2596896"/>
            <a:ext cx="2240280" cy="384048"/>
          </a:xfrm>
          <a:prstGeom prst="rect">
            <a:avLst/>
          </a:prstGeom>
          <a:solidFill>
            <a:srgbClr val="F3F7FA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28216" y="2633472"/>
            <a:ext cx="2130552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  <a:defRPr sz="930" b="0">
                <a:solidFill>
                  <a:srgbClr val="2A3543"/>
                </a:solidFill>
                <a:latin typeface="Aptos"/>
              </a:defRPr>
            </a:pPr>
            <a:r>
              <a:t>결측·중복·시간·범위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13632" y="2596896"/>
            <a:ext cx="1828800" cy="384048"/>
          </a:xfrm>
          <a:prstGeom prst="rect">
            <a:avLst/>
          </a:prstGeom>
          <a:solidFill>
            <a:srgbClr val="F3F7FA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968496" y="2633472"/>
            <a:ext cx="1719072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  <a:defRPr sz="930" b="0">
                <a:solidFill>
                  <a:srgbClr val="2A3543"/>
                </a:solidFill>
                <a:latin typeface="Aptos"/>
              </a:defRPr>
            </a:pPr>
            <a:r>
              <a:t>중복 0건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3" y="2980944"/>
            <a:ext cx="1069848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" y="3017520"/>
            <a:ext cx="960119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  <a:defRPr sz="930" b="1">
                <a:solidFill>
                  <a:srgbClr val="007E82"/>
                </a:solidFill>
                <a:latin typeface="Aptos"/>
              </a:defRPr>
            </a:pPr>
            <a:r>
              <a:t>DB 적재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73351" y="2980944"/>
            <a:ext cx="22402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728216" y="3017520"/>
            <a:ext cx="2130552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  <a:defRPr sz="930" b="0">
                <a:solidFill>
                  <a:srgbClr val="2A3543"/>
                </a:solidFill>
                <a:latin typeface="Aptos"/>
              </a:defRPr>
            </a:pPr>
            <a:r>
              <a:t>MySQL UPSERT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13632" y="2980944"/>
            <a:ext cx="182880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968496" y="3017520"/>
            <a:ext cx="1719072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  <a:defRPr sz="930" b="0">
                <a:solidFill>
                  <a:srgbClr val="2A3543"/>
                </a:solidFill>
                <a:latin typeface="Aptos"/>
              </a:defRPr>
            </a:pPr>
            <a:r>
              <a:t>(tm, stn) 복합키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3" y="3364991"/>
            <a:ext cx="1069848" cy="384048"/>
          </a:xfrm>
          <a:prstGeom prst="rect">
            <a:avLst/>
          </a:prstGeom>
          <a:solidFill>
            <a:srgbClr val="F3F7FA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" y="3401568"/>
            <a:ext cx="960119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  <a:defRPr sz="930" b="1">
                <a:solidFill>
                  <a:srgbClr val="007E82"/>
                </a:solidFill>
                <a:latin typeface="Aptos"/>
              </a:defRPr>
            </a:pPr>
            <a:r>
              <a:t>값 보존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73351" y="3364991"/>
            <a:ext cx="2240280" cy="384048"/>
          </a:xfrm>
          <a:prstGeom prst="rect">
            <a:avLst/>
          </a:prstGeom>
          <a:solidFill>
            <a:srgbClr val="F3F7FA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728216" y="3401568"/>
            <a:ext cx="2130552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  <a:defRPr sz="930" b="0">
                <a:solidFill>
                  <a:srgbClr val="2A3543"/>
                </a:solidFill>
                <a:latin typeface="Aptos"/>
              </a:defRPr>
            </a:pPr>
            <a:r>
              <a:t>NULL만 새 값으로 보완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13632" y="3364991"/>
            <a:ext cx="1828800" cy="384048"/>
          </a:xfrm>
          <a:prstGeom prst="rect">
            <a:avLst/>
          </a:prstGeom>
          <a:solidFill>
            <a:srgbClr val="F3F7FA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968496" y="3401568"/>
            <a:ext cx="1719072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  <a:defRPr sz="930" b="0">
                <a:solidFill>
                  <a:srgbClr val="2A3543"/>
                </a:solidFill>
                <a:latin typeface="Aptos"/>
              </a:defRPr>
            </a:pPr>
            <a:r>
              <a:t>기존 유효값 유지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3" y="3749039"/>
            <a:ext cx="1069848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8368" y="3785615"/>
            <a:ext cx="960119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  <a:defRPr sz="930" b="1">
                <a:solidFill>
                  <a:srgbClr val="007E82"/>
                </a:solidFill>
                <a:latin typeface="Aptos"/>
              </a:defRPr>
            </a:pPr>
            <a:r>
              <a:t>실행 환경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73351" y="3749039"/>
            <a:ext cx="22402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728216" y="3785615"/>
            <a:ext cx="2130552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  <a:defRPr sz="930" b="0">
                <a:solidFill>
                  <a:srgbClr val="2A3543"/>
                </a:solidFill>
                <a:latin typeface="Aptos"/>
              </a:defRPr>
            </a:pPr>
            <a:r>
              <a:t>CSV 경로 수정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13632" y="3749039"/>
            <a:ext cx="182880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968496" y="3785615"/>
            <a:ext cx="1719072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  <a:defRPr sz="930" b="0">
                <a:solidFill>
                  <a:srgbClr val="2A3543"/>
                </a:solidFill>
                <a:latin typeface="Aptos"/>
              </a:defRPr>
            </a:pPr>
            <a:r>
              <a:t>로컬 저장 성공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8912" y="4553712"/>
            <a:ext cx="13258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2920" y="4626864"/>
            <a:ext cx="1197864" cy="2651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007E82"/>
                </a:solidFill>
                <a:latin typeface="Aptos"/>
              </a:defRPr>
            </a:pPr>
            <a:r>
              <a:rPr sz="1200" dirty="0">
                <a:solidFill>
                  <a:srgbClr val="002060"/>
                </a:solidFill>
              </a:rPr>
              <a:t>2,328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" y="4946904"/>
            <a:ext cx="121615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830" b="0">
                <a:solidFill>
                  <a:srgbClr val="5D6C7B"/>
                </a:solidFill>
                <a:latin typeface="Aptos"/>
              </a:defRPr>
            </a:pPr>
            <a:r>
              <a:t>UPSERT 입력 건수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856232" y="4553712"/>
            <a:ext cx="13258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911096" y="4946904"/>
            <a:ext cx="121615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830" b="0">
                <a:solidFill>
                  <a:srgbClr val="5D6C7B"/>
                </a:solidFill>
                <a:latin typeface="Aptos"/>
              </a:defRPr>
            </a:pPr>
            <a:r>
              <a:t>적용 후 전체 행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273552" y="4553712"/>
            <a:ext cx="13258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328416" y="4946904"/>
            <a:ext cx="121615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830" b="0">
                <a:solidFill>
                  <a:srgbClr val="5D6C7B"/>
                </a:solidFill>
                <a:latin typeface="Aptos"/>
              </a:defRPr>
            </a:pPr>
            <a:r>
              <a:t>고유 복합 키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690872" y="4553712"/>
            <a:ext cx="13258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754880" y="4626864"/>
            <a:ext cx="1197864" cy="2651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B57323"/>
                </a:solidFill>
                <a:latin typeface="Aptos"/>
              </a:defRPr>
            </a:pPr>
            <a:r>
              <a:rPr sz="120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45736" y="4946904"/>
            <a:ext cx="121615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830" b="0">
                <a:solidFill>
                  <a:srgbClr val="5D6C7B"/>
                </a:solidFill>
                <a:latin typeface="Aptos"/>
              </a:defRPr>
            </a:pPr>
            <a:r>
              <a:t>중복 키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38912" y="5394960"/>
            <a:ext cx="5623560" cy="6858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03503" y="5568696"/>
            <a:ext cx="98755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B57323"/>
                </a:solidFill>
                <a:latin typeface="Aptos"/>
              </a:defRPr>
            </a:pPr>
            <a:r>
              <a:rPr dirty="0" err="1"/>
              <a:t>검증</a:t>
            </a:r>
            <a:r>
              <a:rPr dirty="0"/>
              <a:t> </a:t>
            </a:r>
            <a:r>
              <a:rPr dirty="0" err="1"/>
              <a:t>한계</a:t>
            </a:r>
            <a:endParaRPr dirty="0"/>
          </a:p>
        </p:txBody>
      </p:sp>
      <p:sp>
        <p:nvSpPr>
          <p:cNvPr id="58" name="TextBox 57"/>
          <p:cNvSpPr txBox="1"/>
          <p:nvPr/>
        </p:nvSpPr>
        <p:spPr>
          <a:xfrm>
            <a:off x="1517904" y="5468112"/>
            <a:ext cx="4379976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  <a:defRPr sz="950" b="1">
                <a:solidFill>
                  <a:srgbClr val="2A3543"/>
                </a:solidFill>
                <a:latin typeface="Aptos"/>
              </a:defRPr>
            </a:pPr>
            <a:r>
              <a:rPr dirty="0" err="1"/>
              <a:t>결측</a:t>
            </a:r>
            <a:r>
              <a:rPr dirty="0"/>
              <a:t> </a:t>
            </a:r>
            <a:r>
              <a:rPr dirty="0" err="1"/>
              <a:t>건수는</a:t>
            </a:r>
            <a:r>
              <a:rPr dirty="0"/>
              <a:t> </a:t>
            </a:r>
            <a:r>
              <a:rPr dirty="0" err="1"/>
              <a:t>적용</a:t>
            </a:r>
            <a:r>
              <a:rPr dirty="0"/>
              <a:t> </a:t>
            </a:r>
            <a:r>
              <a:rPr dirty="0" err="1"/>
              <a:t>전후</a:t>
            </a:r>
            <a:r>
              <a:rPr dirty="0"/>
              <a:t> </a:t>
            </a:r>
            <a:r>
              <a:rPr dirty="0" err="1"/>
              <a:t>동일</a:t>
            </a:r>
            <a:r>
              <a:rPr dirty="0"/>
              <a:t>. </a:t>
            </a:r>
            <a:r>
              <a:rPr dirty="0" err="1"/>
              <a:t>이번</a:t>
            </a:r>
            <a:r>
              <a:rPr dirty="0"/>
              <a:t> </a:t>
            </a:r>
            <a:r>
              <a:rPr dirty="0" err="1"/>
              <a:t>실행에서는</a:t>
            </a:r>
            <a:r>
              <a:rPr dirty="0"/>
              <a:t> </a:t>
            </a:r>
            <a:r>
              <a:rPr dirty="0" err="1"/>
              <a:t>결측</a:t>
            </a:r>
            <a:r>
              <a:rPr dirty="0"/>
              <a:t> </a:t>
            </a:r>
            <a:r>
              <a:rPr dirty="0" err="1"/>
              <a:t>보완</a:t>
            </a:r>
            <a:r>
              <a:rPr dirty="0"/>
              <a:t> </a:t>
            </a:r>
            <a:r>
              <a:rPr dirty="0" err="1"/>
              <a:t>효과를</a:t>
            </a:r>
            <a:r>
              <a:rPr dirty="0"/>
              <a:t> </a:t>
            </a:r>
            <a:r>
              <a:rPr dirty="0" err="1"/>
              <a:t>확인하지</a:t>
            </a:r>
            <a:r>
              <a:rPr dirty="0"/>
              <a:t> </a:t>
            </a:r>
            <a:r>
              <a:rPr dirty="0" err="1"/>
              <a:t>못함</a:t>
            </a:r>
            <a:r>
              <a:rPr dirty="0"/>
              <a:t>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91072" y="1344168"/>
            <a:ext cx="545896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82B44"/>
                </a:solidFill>
                <a:latin typeface="Aptos"/>
              </a:defRPr>
            </a:pPr>
            <a:r>
              <a:t>실행 증거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91072" y="1600200"/>
            <a:ext cx="545896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5D6C7B"/>
                </a:solidFill>
                <a:latin typeface="Aptos"/>
              </a:defRPr>
            </a:pPr>
            <a:r>
              <a:t>실행 로그와 MySQL 조회 결과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91072" y="1874519"/>
            <a:ext cx="2633472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2" name="Picture 61" descr="image(20261019-031453).png"/>
          <p:cNvPicPr>
            <a:picLocks noChangeAspect="1"/>
          </p:cNvPicPr>
          <p:nvPr/>
        </p:nvPicPr>
        <p:blipFill>
          <a:blip r:embed="rId2"/>
          <a:srcRect l="20819" t="84215" r="20727"/>
          <a:stretch>
            <a:fillRect/>
          </a:stretch>
        </p:blipFill>
        <p:spPr>
          <a:xfrm>
            <a:off x="6171219" y="2101563"/>
            <a:ext cx="2873175" cy="1255841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6400800" y="3511296"/>
            <a:ext cx="2414015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182B44"/>
                </a:solidFill>
                <a:latin typeface="Aptos"/>
              </a:defRPr>
            </a:pPr>
            <a:r>
              <a:rPr dirty="0">
                <a:latin typeface="+mn-ea"/>
              </a:rPr>
              <a:t>① </a:t>
            </a:r>
            <a:r>
              <a:rPr dirty="0" err="1">
                <a:latin typeface="+mn-ea"/>
              </a:rPr>
              <a:t>실행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로그</a:t>
            </a:r>
            <a:r>
              <a:rPr dirty="0">
                <a:latin typeface="+mn-ea"/>
              </a:rPr>
              <a:t>: PASS · UPSERT </a:t>
            </a:r>
            <a:r>
              <a:rPr dirty="0" err="1">
                <a:latin typeface="+mn-ea"/>
              </a:rPr>
              <a:t>성공</a:t>
            </a:r>
            <a:endParaRPr dirty="0">
              <a:latin typeface="+mn-ea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9107424" y="1874519"/>
            <a:ext cx="2633472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5" name="Picture 64" descr="image(20261019-031716).png"/>
          <p:cNvPicPr>
            <a:picLocks noChangeAspect="1"/>
          </p:cNvPicPr>
          <p:nvPr/>
        </p:nvPicPr>
        <p:blipFill>
          <a:blip r:embed="rId3"/>
          <a:srcRect l="21187" t="22572" r="38380" b="34917"/>
          <a:stretch>
            <a:fillRect/>
          </a:stretch>
        </p:blipFill>
        <p:spPr>
          <a:xfrm>
            <a:off x="9107425" y="2039112"/>
            <a:ext cx="2551176" cy="1472184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9097965" y="3450832"/>
            <a:ext cx="2841882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900" b="1" dirty="0">
                <a:latin typeface="+mn-ea"/>
              </a:rPr>
              <a:t>② </a:t>
            </a:r>
            <a:r>
              <a:rPr sz="900" b="1" dirty="0" err="1">
                <a:latin typeface="+mn-ea"/>
              </a:rPr>
              <a:t>이전</a:t>
            </a:r>
            <a:r>
              <a:rPr sz="900" b="1" dirty="0">
                <a:latin typeface="+mn-ea"/>
              </a:rPr>
              <a:t> </a:t>
            </a:r>
            <a:r>
              <a:rPr sz="900" b="1" dirty="0" err="1">
                <a:latin typeface="+mn-ea"/>
              </a:rPr>
              <a:t>검증</a:t>
            </a:r>
            <a:r>
              <a:rPr sz="900" b="1" dirty="0">
                <a:latin typeface="+mn-ea"/>
              </a:rPr>
              <a:t> </a:t>
            </a:r>
            <a:r>
              <a:rPr sz="900" b="1" dirty="0" err="1">
                <a:latin typeface="+mn-ea"/>
              </a:rPr>
              <a:t>시점</a:t>
            </a:r>
            <a:r>
              <a:rPr sz="900" b="1" dirty="0">
                <a:latin typeface="+mn-ea"/>
              </a:rPr>
              <a:t> MySQL: 76,820행 · 키 </a:t>
            </a:r>
            <a:r>
              <a:rPr sz="900" b="1" dirty="0" err="1">
                <a:latin typeface="+mn-ea"/>
              </a:rPr>
              <a:t>중복</a:t>
            </a:r>
            <a:r>
              <a:rPr sz="900" b="1" dirty="0">
                <a:latin typeface="+mn-ea"/>
              </a:rPr>
              <a:t> </a:t>
            </a:r>
            <a:r>
              <a:rPr sz="900" b="1" dirty="0" err="1">
                <a:latin typeface="+mn-ea"/>
              </a:rPr>
              <a:t>없음</a:t>
            </a:r>
            <a:endParaRPr sz="900" b="1" dirty="0">
              <a:latin typeface="+mn-ea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6291072" y="3950208"/>
            <a:ext cx="5449824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8" name="Picture 67" descr="image(20261019-031615).png"/>
          <p:cNvPicPr>
            <a:picLocks noChangeAspect="1"/>
          </p:cNvPicPr>
          <p:nvPr/>
        </p:nvPicPr>
        <p:blipFill>
          <a:blip r:embed="rId4"/>
          <a:srcRect l="20315" t="22422" r="39773" b="36753"/>
          <a:stretch>
            <a:fillRect/>
          </a:stretch>
        </p:blipFill>
        <p:spPr>
          <a:xfrm>
            <a:off x="7284515" y="3982276"/>
            <a:ext cx="2682408" cy="144926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6400800" y="5358384"/>
            <a:ext cx="5230368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182B44"/>
                </a:solidFill>
                <a:latin typeface="Aptos"/>
              </a:defRPr>
            </a:pPr>
            <a:r>
              <a:rPr dirty="0">
                <a:latin typeface="+mn-ea"/>
              </a:rPr>
              <a:t>③ </a:t>
            </a:r>
            <a:r>
              <a:rPr dirty="0" err="1">
                <a:latin typeface="+mn-ea"/>
              </a:rPr>
              <a:t>결측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현황</a:t>
            </a:r>
            <a:r>
              <a:rPr dirty="0">
                <a:latin typeface="+mn-ea"/>
              </a:rPr>
              <a:t>: </a:t>
            </a:r>
            <a:r>
              <a:rPr dirty="0" err="1">
                <a:latin typeface="+mn-ea"/>
              </a:rPr>
              <a:t>적용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전후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동일</a:t>
            </a:r>
            <a:endParaRPr dirty="0">
              <a:latin typeface="+mn-ea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291072" y="5742432"/>
            <a:ext cx="5458968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dirty="0" err="1"/>
              <a:t>핵심</a:t>
            </a:r>
            <a:r>
              <a:rPr sz="1200" dirty="0"/>
              <a:t>: </a:t>
            </a:r>
            <a:r>
              <a:rPr sz="1200" dirty="0" err="1"/>
              <a:t>실행</a:t>
            </a:r>
            <a:r>
              <a:rPr sz="1200" dirty="0"/>
              <a:t> </a:t>
            </a:r>
            <a:r>
              <a:rPr sz="1200" dirty="0" err="1"/>
              <a:t>성공과</a:t>
            </a:r>
            <a:r>
              <a:rPr sz="1200" dirty="0"/>
              <a:t> </a:t>
            </a:r>
            <a:r>
              <a:rPr sz="1200" dirty="0" err="1"/>
              <a:t>데이터</a:t>
            </a:r>
            <a:r>
              <a:rPr sz="1200" dirty="0"/>
              <a:t> </a:t>
            </a:r>
            <a:r>
              <a:rPr sz="1200" dirty="0" err="1"/>
              <a:t>개선</a:t>
            </a:r>
            <a:r>
              <a:rPr sz="1200" dirty="0"/>
              <a:t> </a:t>
            </a:r>
            <a:r>
              <a:rPr sz="1200" dirty="0" err="1"/>
              <a:t>효과를</a:t>
            </a:r>
            <a:r>
              <a:rPr sz="1200" dirty="0"/>
              <a:t> </a:t>
            </a:r>
            <a:r>
              <a:rPr sz="1200" dirty="0" err="1"/>
              <a:t>구분하고</a:t>
            </a:r>
            <a:r>
              <a:rPr sz="1200" dirty="0"/>
              <a:t>, </a:t>
            </a:r>
            <a:r>
              <a:rPr sz="1200" dirty="0" err="1"/>
              <a:t>검증</a:t>
            </a:r>
            <a:r>
              <a:rPr sz="1200" dirty="0"/>
              <a:t> </a:t>
            </a:r>
            <a:r>
              <a:rPr sz="1200" dirty="0" err="1"/>
              <a:t>시점별</a:t>
            </a:r>
            <a:r>
              <a:rPr sz="1200" dirty="0"/>
              <a:t> </a:t>
            </a:r>
            <a:r>
              <a:rPr sz="1200" dirty="0" err="1"/>
              <a:t>결과를</a:t>
            </a:r>
            <a:r>
              <a:rPr sz="1200" dirty="0"/>
              <a:t> </a:t>
            </a:r>
            <a:r>
              <a:rPr sz="1200" dirty="0" err="1"/>
              <a:t>확인</a:t>
            </a:r>
            <a:endParaRPr sz="1200" dirty="0"/>
          </a:p>
        </p:txBody>
      </p:sp>
      <p:sp>
        <p:nvSpPr>
          <p:cNvPr id="71" name="TextBox 70"/>
          <p:cNvSpPr txBox="1"/>
          <p:nvPr/>
        </p:nvSpPr>
        <p:spPr>
          <a:xfrm>
            <a:off x="457200" y="6419088"/>
            <a:ext cx="7772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5D6C7B"/>
                </a:solidFill>
                <a:latin typeface="Aptos"/>
              </a:defRPr>
            </a:pPr>
            <a:r>
              <a:t>Weather Data Pipeline  |  Python · MySQL · Airflow · FastAPI · React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241280" y="6419088"/>
            <a:ext cx="14173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  <a:defRPr sz="850" b="1">
                <a:solidFill>
                  <a:srgbClr val="007E82"/>
                </a:solidFill>
                <a:latin typeface="Aptos"/>
              </a:defRPr>
            </a:pPr>
            <a:r>
              <a:t>PORTFOLIO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DD96E8B-1596-5F8A-61A4-15529D81259B}"/>
              </a:ext>
            </a:extLst>
          </p:cNvPr>
          <p:cNvSpPr txBox="1"/>
          <p:nvPr/>
        </p:nvSpPr>
        <p:spPr>
          <a:xfrm>
            <a:off x="1920240" y="4626864"/>
            <a:ext cx="1197864" cy="2651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416591"/>
                </a:solidFill>
                <a:latin typeface="Aptos"/>
              </a:defRPr>
            </a:pPr>
            <a:r>
              <a:rPr sz="1200" dirty="0">
                <a:solidFill>
                  <a:srgbClr val="002060"/>
                </a:solidFill>
              </a:rPr>
              <a:t>76,820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D049421-C625-B9E3-8AA4-56915371DC0B}"/>
              </a:ext>
            </a:extLst>
          </p:cNvPr>
          <p:cNvSpPr txBox="1"/>
          <p:nvPr/>
        </p:nvSpPr>
        <p:spPr>
          <a:xfrm>
            <a:off x="3355848" y="4617720"/>
            <a:ext cx="1197864" cy="2651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416591"/>
                </a:solidFill>
                <a:latin typeface="Aptos"/>
              </a:defRPr>
            </a:pPr>
            <a:r>
              <a:rPr sz="1200" dirty="0">
                <a:solidFill>
                  <a:srgbClr val="002060"/>
                </a:solidFill>
              </a:rPr>
              <a:t>76,820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1F3756"/>
          </a:solidFill>
          <a:ln w="7620">
            <a:solidFill>
              <a:srgbClr val="D3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82660"/>
            <a:ext cx="5486400" cy="166199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900" b="1" dirty="0">
                <a:solidFill>
                  <a:srgbClr val="2B3036"/>
                </a:solidFill>
                <a:latin typeface="Aptos"/>
              </a:rPr>
              <a:t>05.</a:t>
            </a:r>
            <a:endParaRPr sz="900" b="1" dirty="0">
              <a:solidFill>
                <a:srgbClr val="2B3036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789920" cy="475488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D2D44"/>
                </a:solidFill>
                <a:latin typeface="Aptos"/>
              </a:rPr>
              <a:t>Airflow 오케스트레이션과 Docker 실행 환경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48860"/>
            <a:ext cx="10789920" cy="243143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ctr">
            <a:spAutoFit/>
          </a:bodyPr>
          <a:lstStyle/>
          <a:p>
            <a:r>
              <a:rPr sz="1400"/>
              <a:t>Airflow DAG 자동화와 Docker 이미지 기반 ETL 컨테이너 실행을 각각 검증하고 MySQL 적재 결과 확인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99032"/>
            <a:ext cx="11018520" cy="22860"/>
          </a:xfrm>
          <a:prstGeom prst="rect">
            <a:avLst/>
          </a:prstGeom>
          <a:solidFill>
            <a:srgbClr val="1F3756"/>
          </a:solidFill>
          <a:ln>
            <a:solidFill>
              <a:srgbClr val="D3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11018520" cy="10972"/>
          </a:xfrm>
          <a:prstGeom prst="rect">
            <a:avLst/>
          </a:prstGeom>
          <a:solidFill>
            <a:srgbClr val="EBF3FA"/>
          </a:solidFill>
          <a:ln>
            <a:solidFill>
              <a:srgbClr val="D3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6556248"/>
            <a:ext cx="7315200" cy="146304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647180"/>
                </a:solidFill>
                <a:latin typeface="Aptos"/>
              </a:rPr>
              <a:t>KMA WEATHER DATA PIPELINE  |  BACKEND PORTFOLIO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647180"/>
                </a:solidFill>
                <a:latin typeface="Aptos"/>
              </a:rPr>
              <a:t>04 /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66420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D2D44"/>
                </a:solidFill>
                <a:latin typeface="Aptos"/>
              </a:rPr>
              <a:t>Airflow DAG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64208"/>
            <a:ext cx="507492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D2D44"/>
                </a:solidFill>
                <a:latin typeface="Aptos"/>
              </a:rPr>
              <a:t>Docker ETL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07568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B3036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07568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D2D44"/>
                </a:solidFill>
                <a:latin typeface="Aptos"/>
              </a:rPr>
              <a:t>collect_weather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075688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2B3644"/>
                </a:solidFill>
                <a:latin typeface="Aptos"/>
              </a:rPr>
              <a:t>API 수집·변환·CSV 저장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478024"/>
            <a:ext cx="4983480" cy="9144"/>
          </a:xfrm>
          <a:prstGeom prst="rect">
            <a:avLst/>
          </a:prstGeom>
          <a:solidFill>
            <a:srgbClr val="EBF3FA"/>
          </a:solidFill>
          <a:ln>
            <a:solidFill>
              <a:srgbClr val="D3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271576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B3036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71576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D2D44"/>
                </a:solidFill>
                <a:latin typeface="Aptos"/>
              </a:rPr>
              <a:t>quality_check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715768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2B3644"/>
                </a:solidFill>
                <a:latin typeface="Aptos"/>
              </a:rPr>
              <a:t>CSV 품질 규칙 실행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18103"/>
            <a:ext cx="4983480" cy="9144"/>
          </a:xfrm>
          <a:prstGeom prst="rect">
            <a:avLst/>
          </a:prstGeom>
          <a:solidFill>
            <a:srgbClr val="EBF3FA"/>
          </a:solidFill>
          <a:ln>
            <a:solidFill>
              <a:srgbClr val="D3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35584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B3036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35584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D2D44"/>
                </a:solidFill>
                <a:latin typeface="Aptos"/>
              </a:rPr>
              <a:t>load_mysql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355848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2B3644"/>
                </a:solidFill>
                <a:latin typeface="Aptos"/>
              </a:rPr>
              <a:t>MySQL 적재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3758184"/>
            <a:ext cx="4983480" cy="9144"/>
          </a:xfrm>
          <a:prstGeom prst="rect">
            <a:avLst/>
          </a:prstGeom>
          <a:solidFill>
            <a:srgbClr val="EBF3FA"/>
          </a:solidFill>
          <a:ln>
            <a:solidFill>
              <a:srgbClr val="D3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01_docker이미지빌드성공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5783" y="1548731"/>
            <a:ext cx="3517017" cy="4002854"/>
          </a:xfrm>
          <a:prstGeom prst="rect">
            <a:avLst/>
          </a:prstGeom>
          <a:ln>
            <a:solidFill/>
          </a:ln>
        </p:spPr>
      </p:pic>
      <p:sp>
        <p:nvSpPr>
          <p:cNvPr id="27" name="Rectangle 26"/>
          <p:cNvSpPr/>
          <p:nvPr/>
        </p:nvSpPr>
        <p:spPr>
          <a:xfrm>
            <a:off x="749808" y="5623560"/>
            <a:ext cx="10652760" cy="502920"/>
          </a:xfrm>
          <a:prstGeom prst="rect">
            <a:avLst/>
          </a:prstGeom>
          <a:solidFill>
            <a:srgbClr val="F6F8FB"/>
          </a:solidFill>
          <a:ln w="7620">
            <a:solidFill>
              <a:srgbClr val="D3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5632010"/>
            <a:ext cx="10287000" cy="458587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ctr">
            <a:spAutoFit/>
          </a:bodyPr>
          <a:lstStyle/>
          <a:p>
            <a:r>
              <a:rPr sz="1400"/>
              <a:t>실행 검증 | Docker 이미지 빌드 → 컨테이너 실행: HTTP 200 · 2,328건 처리 · 품질 PASS · CSV 생성 및 MySQL 적재 확인</a:t>
            </a:r>
          </a:p>
          <a:p>
            <a:r>
              <a:rPr sz="1400"/>
              <a:t>MySQL 재조회: 전체 79,148건 = (tm, stn) 고유 키 79,148건 · 재실행 후 행 수 유지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BD1F02-DFD8-B07A-96E8-DA8E60B4AC15}"/>
              </a:ext>
            </a:extLst>
          </p:cNvPr>
          <p:cNvSpPr txBox="1"/>
          <p:nvPr/>
        </p:nvSpPr>
        <p:spPr>
          <a:xfrm>
            <a:off x="749808" y="3802076"/>
            <a:ext cx="4754880" cy="375487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r>
              <a:rPr sz="1100" dirty="0"/>
              <a:t>Airflow DAG: </a:t>
            </a:r>
            <a:r>
              <a:rPr sz="1100" dirty="0" err="1"/>
              <a:t>collect_weather</a:t>
            </a:r>
            <a:r>
              <a:rPr sz="1100" dirty="0"/>
              <a:t> → </a:t>
            </a:r>
            <a:r>
              <a:rPr sz="1100" dirty="0" err="1"/>
              <a:t>quality_check</a:t>
            </a:r>
            <a:r>
              <a:rPr sz="1100" dirty="0"/>
              <a:t> → </a:t>
            </a:r>
            <a:r>
              <a:rPr sz="1100" dirty="0" err="1"/>
              <a:t>load_mysql</a:t>
            </a:r>
            <a:r>
              <a:rPr sz="1100" dirty="0"/>
              <a:t> · </a:t>
            </a:r>
            <a:r>
              <a:rPr sz="1100" dirty="0" err="1"/>
              <a:t>매일</a:t>
            </a:r>
            <a:r>
              <a:rPr sz="1100" dirty="0"/>
              <a:t> 01:00 (Asia/Seoul) · 3개 Task </a:t>
            </a:r>
            <a:r>
              <a:rPr sz="1100" dirty="0" err="1"/>
              <a:t>성공</a:t>
            </a:r>
            <a:r>
              <a:rPr sz="1100" dirty="0"/>
              <a:t> </a:t>
            </a:r>
            <a:r>
              <a:rPr sz="1100" dirty="0" err="1"/>
              <a:t>확인</a:t>
            </a:r>
            <a:endParaRPr sz="1100" dirty="0"/>
          </a:p>
        </p:txBody>
      </p:sp>
      <p:pic>
        <p:nvPicPr>
          <p:cNvPr id="31" name="Picture 18">
            <a:extLst>
              <a:ext uri="{FF2B5EF4-FFF2-40B4-BE49-F238E27FC236}">
                <a16:creationId xmlns:a16="http://schemas.microsoft.com/office/drawing/2014/main" id="{6BE6E03B-A2BF-B642-A6DF-A7FD1755F0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94" t="9221" b="51863"/>
          <a:stretch>
            <a:fillRect/>
          </a:stretch>
        </p:blipFill>
        <p:spPr>
          <a:xfrm>
            <a:off x="713232" y="4127154"/>
            <a:ext cx="4080126" cy="14103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5943600" cy="175433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2F5F97"/>
                </a:solidFill>
                <a:latin typeface="Malgun Gothic"/>
              </a:defRPr>
            </a:pPr>
            <a:r>
              <a:rPr lang="en-US" dirty="0"/>
              <a:t>06.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58368" y="667512"/>
            <a:ext cx="10789920" cy="4389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1F3756"/>
                </a:solidFill>
                <a:latin typeface="Malgun Gothic"/>
              </a:defRPr>
            </a:pPr>
            <a:r>
              <a:t>FastAPI 조회 API 구현 및 검증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61288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r>
              <a:t>Swagger UI에서 조회 API 응답을 검증하고, 품질 진단·파이프라인 실행 이력 API를 대시보드와 연결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881360" cy="22860"/>
          </a:xfrm>
          <a:prstGeom prst="rect">
            <a:avLst/>
          </a:prstGeom>
          <a:solidFill>
            <a:srgbClr val="2F5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6656" y="6519672"/>
            <a:ext cx="777240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87480"/>
                </a:solidFill>
                <a:latin typeface="Malgun Gothic"/>
              </a:defRPr>
            </a:pPr>
            <a:r>
              <a:t>KMA WEATHER DATA PIPELINE  |  BACKEND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50138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300"/>
              </a:spcAft>
              <a:defRPr sz="800" b="1" i="0">
                <a:solidFill>
                  <a:srgbClr val="2F5F97"/>
                </a:solidFill>
                <a:latin typeface="Malgun Gothic"/>
              </a:defRPr>
            </a:pPr>
            <a:r>
              <a:t>05 /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8889" y="1847088"/>
            <a:ext cx="1828800" cy="252377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1F3756"/>
                </a:solidFill>
                <a:latin typeface="Malgun Gothic"/>
              </a:defRPr>
            </a:pPr>
            <a:r>
              <a:rPr sz="1400" dirty="0"/>
              <a:t>API </a:t>
            </a:r>
            <a:r>
              <a:rPr sz="1400" dirty="0" err="1"/>
              <a:t>명세</a:t>
            </a:r>
            <a:endParaRPr sz="1400" dirty="0"/>
          </a:p>
        </p:txBody>
      </p:sp>
      <p:sp>
        <p:nvSpPr>
          <p:cNvPr id="9" name="Rectangle 8"/>
          <p:cNvSpPr/>
          <p:nvPr/>
        </p:nvSpPr>
        <p:spPr>
          <a:xfrm>
            <a:off x="5818889" y="2139696"/>
            <a:ext cx="1645920" cy="475488"/>
          </a:xfrm>
          <a:prstGeom prst="rect">
            <a:avLst/>
          </a:prstGeom>
          <a:solidFill>
            <a:srgbClr val="EBF3FA"/>
          </a:solidFill>
          <a:ln w="8890"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0" name="TextBox 9"/>
          <p:cNvSpPr txBox="1"/>
          <p:nvPr/>
        </p:nvSpPr>
        <p:spPr>
          <a:xfrm>
            <a:off x="5910328" y="2280445"/>
            <a:ext cx="1481328" cy="203133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1F3756"/>
                </a:solidFill>
                <a:latin typeface="Malgun Gothic"/>
              </a:defRPr>
            </a:pPr>
            <a:r>
              <a:rPr sz="1200"/>
              <a:t>항목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64809" y="2139696"/>
            <a:ext cx="3794760" cy="475488"/>
          </a:xfrm>
          <a:prstGeom prst="rect">
            <a:avLst/>
          </a:prstGeom>
          <a:solidFill>
            <a:srgbClr val="EBF3FA"/>
          </a:solidFill>
          <a:ln w="8890"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2" name="TextBox 11"/>
          <p:cNvSpPr txBox="1"/>
          <p:nvPr/>
        </p:nvSpPr>
        <p:spPr>
          <a:xfrm>
            <a:off x="7556249" y="2280445"/>
            <a:ext cx="3630168" cy="203133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1F3756"/>
                </a:solidFill>
                <a:latin typeface="Malgun Gothic"/>
              </a:defRPr>
            </a:pPr>
            <a:r>
              <a:rPr sz="1200"/>
              <a:t>내용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18889" y="2615184"/>
            <a:ext cx="164592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4" name="TextBox 13"/>
          <p:cNvSpPr txBox="1"/>
          <p:nvPr/>
        </p:nvSpPr>
        <p:spPr>
          <a:xfrm>
            <a:off x="5910328" y="2755933"/>
            <a:ext cx="1481328" cy="203133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B3036"/>
                </a:solidFill>
                <a:latin typeface="Malgun Gothic"/>
              </a:defRPr>
            </a:pPr>
            <a:r>
              <a:rPr sz="1200"/>
              <a:t>Method / Path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64809" y="2615184"/>
            <a:ext cx="379476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6" name="TextBox 15"/>
          <p:cNvSpPr txBox="1"/>
          <p:nvPr/>
        </p:nvSpPr>
        <p:spPr>
          <a:xfrm>
            <a:off x="7556249" y="2755933"/>
            <a:ext cx="3630168" cy="203133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B3036"/>
                </a:solidFill>
                <a:latin typeface="Malgun Gothic"/>
              </a:defRPr>
            </a:pPr>
            <a:r>
              <a:rPr sz="1200"/>
              <a:t>GET /api/weather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8889" y="3090672"/>
            <a:ext cx="1645920" cy="475488"/>
          </a:xfrm>
          <a:prstGeom prst="rect">
            <a:avLst/>
          </a:prstGeom>
          <a:solidFill>
            <a:srgbClr val="F6F8FB"/>
          </a:solidFill>
          <a:ln w="8890"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8" name="TextBox 17"/>
          <p:cNvSpPr txBox="1"/>
          <p:nvPr/>
        </p:nvSpPr>
        <p:spPr>
          <a:xfrm>
            <a:off x="5910328" y="3231421"/>
            <a:ext cx="1481328" cy="203133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B3036"/>
                </a:solidFill>
                <a:latin typeface="Malgun Gothic"/>
              </a:defRPr>
            </a:pPr>
            <a:r>
              <a:rPr sz="1200"/>
              <a:t>필수 파라미터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64809" y="3090672"/>
            <a:ext cx="3794760" cy="475488"/>
          </a:xfrm>
          <a:prstGeom prst="rect">
            <a:avLst/>
          </a:prstGeom>
          <a:solidFill>
            <a:srgbClr val="F6F8FB"/>
          </a:solidFill>
          <a:ln w="8890"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0" name="TextBox 19"/>
          <p:cNvSpPr txBox="1"/>
          <p:nvPr/>
        </p:nvSpPr>
        <p:spPr>
          <a:xfrm>
            <a:off x="7556249" y="3231421"/>
            <a:ext cx="3630168" cy="203133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B3036"/>
                </a:solidFill>
                <a:latin typeface="Malgun Gothic"/>
              </a:defRPr>
            </a:pPr>
            <a:r>
              <a:rPr sz="1200" dirty="0"/>
              <a:t>date, </a:t>
            </a:r>
            <a:r>
              <a:rPr sz="1200" dirty="0" err="1"/>
              <a:t>stn</a:t>
            </a:r>
            <a:endParaRPr sz="1200" dirty="0"/>
          </a:p>
        </p:txBody>
      </p:sp>
      <p:sp>
        <p:nvSpPr>
          <p:cNvPr id="21" name="Rectangle 20"/>
          <p:cNvSpPr/>
          <p:nvPr/>
        </p:nvSpPr>
        <p:spPr>
          <a:xfrm>
            <a:off x="5818889" y="3566160"/>
            <a:ext cx="164592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2" name="TextBox 21"/>
          <p:cNvSpPr txBox="1"/>
          <p:nvPr/>
        </p:nvSpPr>
        <p:spPr>
          <a:xfrm>
            <a:off x="5910328" y="3706909"/>
            <a:ext cx="1481328" cy="203133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B3036"/>
                </a:solidFill>
                <a:latin typeface="Malgun Gothic"/>
              </a:defRPr>
            </a:pPr>
            <a:r>
              <a:rPr sz="1200"/>
              <a:t>선택 파라미터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64809" y="3566160"/>
            <a:ext cx="379476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4" name="TextBox 23"/>
          <p:cNvSpPr txBox="1"/>
          <p:nvPr/>
        </p:nvSpPr>
        <p:spPr>
          <a:xfrm>
            <a:off x="7556249" y="3706909"/>
            <a:ext cx="3630168" cy="203133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B3036"/>
                </a:solidFill>
                <a:latin typeface="Malgun Gothic"/>
              </a:defRPr>
            </a:pPr>
            <a:r>
              <a:rPr sz="1200"/>
              <a:t>start, 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18889" y="4041648"/>
            <a:ext cx="1645920" cy="475488"/>
          </a:xfrm>
          <a:prstGeom prst="rect">
            <a:avLst/>
          </a:prstGeom>
          <a:solidFill>
            <a:srgbClr val="F6F8FB"/>
          </a:solidFill>
          <a:ln w="8890"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6" name="TextBox 25"/>
          <p:cNvSpPr txBox="1"/>
          <p:nvPr/>
        </p:nvSpPr>
        <p:spPr>
          <a:xfrm>
            <a:off x="5910328" y="4182397"/>
            <a:ext cx="1481328" cy="203133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B3036"/>
                </a:solidFill>
                <a:latin typeface="Malgun Gothic"/>
              </a:defRPr>
            </a:pPr>
            <a:r>
              <a:rPr sz="1200"/>
              <a:t>정상 응답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64809" y="4041648"/>
            <a:ext cx="3794760" cy="475488"/>
          </a:xfrm>
          <a:prstGeom prst="rect">
            <a:avLst/>
          </a:prstGeom>
          <a:solidFill>
            <a:srgbClr val="F6F8FB"/>
          </a:solidFill>
          <a:ln w="8890"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8" name="TextBox 27"/>
          <p:cNvSpPr txBox="1"/>
          <p:nvPr/>
        </p:nvSpPr>
        <p:spPr>
          <a:xfrm>
            <a:off x="7556249" y="4182397"/>
            <a:ext cx="3630168" cy="203133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B3036"/>
                </a:solidFill>
                <a:latin typeface="Malgun Gothic"/>
              </a:defRPr>
            </a:pPr>
            <a:r>
              <a:rPr sz="1200"/>
              <a:t>HTTP 200 · JSON 24건 (stn=108, 2026-10-18)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18889" y="4517136"/>
            <a:ext cx="164592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0" name="TextBox 29"/>
          <p:cNvSpPr txBox="1"/>
          <p:nvPr/>
        </p:nvSpPr>
        <p:spPr>
          <a:xfrm>
            <a:off x="5910328" y="4657884"/>
            <a:ext cx="1481328" cy="203133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B3036"/>
                </a:solidFill>
                <a:latin typeface="Malgun Gothic"/>
              </a:defRPr>
            </a:pPr>
            <a:r>
              <a:rPr sz="1200"/>
              <a:t>잘못된 관측소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64809" y="4517136"/>
            <a:ext cx="379476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2" name="TextBox 31"/>
          <p:cNvSpPr txBox="1"/>
          <p:nvPr/>
        </p:nvSpPr>
        <p:spPr>
          <a:xfrm>
            <a:off x="7556249" y="4657884"/>
            <a:ext cx="3630168" cy="203133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B3036"/>
                </a:solidFill>
                <a:latin typeface="Malgun Gothic"/>
              </a:defRPr>
            </a:pPr>
            <a:r>
              <a:rPr sz="1200"/>
              <a:t>HTTP 400 · Bad Request (stn=10)</a:t>
            </a:r>
          </a:p>
        </p:txBody>
      </p:sp>
      <p:sp>
        <p:nvSpPr>
          <p:cNvPr id="45" name="Rounded Rectangle 15">
            <a:extLst>
              <a:ext uri="{FF2B5EF4-FFF2-40B4-BE49-F238E27FC236}">
                <a16:creationId xmlns:a16="http://schemas.microsoft.com/office/drawing/2014/main" id="{033DB64E-FBCC-E60B-D1AB-D53B56549876}"/>
              </a:ext>
            </a:extLst>
          </p:cNvPr>
          <p:cNvSpPr/>
          <p:nvPr/>
        </p:nvSpPr>
        <p:spPr>
          <a:xfrm>
            <a:off x="395610" y="1747647"/>
            <a:ext cx="5120640" cy="181279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735C898-A059-6EA0-89E2-D8488BEB6DF8}"/>
              </a:ext>
            </a:extLst>
          </p:cNvPr>
          <p:cNvSpPr txBox="1"/>
          <p:nvPr/>
        </p:nvSpPr>
        <p:spPr>
          <a:xfrm>
            <a:off x="749463" y="1763429"/>
            <a:ext cx="4551680" cy="25237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dirty="0">
                <a:solidFill>
                  <a:srgbClr val="162B48"/>
                </a:solidFill>
                <a:latin typeface="Aptos"/>
              </a:rPr>
              <a:t>API </a:t>
            </a:r>
            <a:r>
              <a:rPr sz="1400" b="1" dirty="0" err="1">
                <a:solidFill>
                  <a:srgbClr val="162B48"/>
                </a:solidFill>
                <a:latin typeface="Aptos"/>
              </a:rPr>
              <a:t>엔드포인트</a:t>
            </a:r>
            <a:r>
              <a:rPr sz="1400" b="1" dirty="0">
                <a:solidFill>
                  <a:srgbClr val="162B48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62B48"/>
                </a:solidFill>
                <a:latin typeface="Aptos"/>
              </a:rPr>
              <a:t>설계</a:t>
            </a:r>
            <a:endParaRPr sz="1400" b="1" dirty="0">
              <a:solidFill>
                <a:srgbClr val="162B48"/>
              </a:solidFill>
              <a:latin typeface="Apto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92987C7-B243-B52C-5469-CCE7BF2B1029}"/>
              </a:ext>
            </a:extLst>
          </p:cNvPr>
          <p:cNvSpPr txBox="1"/>
          <p:nvPr/>
        </p:nvSpPr>
        <p:spPr>
          <a:xfrm>
            <a:off x="801357" y="2167392"/>
            <a:ext cx="2144542" cy="2215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8787"/>
                </a:solidFill>
                <a:latin typeface="Aptos"/>
              </a:rPr>
              <a:t>GET  /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9BD9124-6E46-59E1-A051-53DBA523E4F2}"/>
              </a:ext>
            </a:extLst>
          </p:cNvPr>
          <p:cNvSpPr txBox="1"/>
          <p:nvPr/>
        </p:nvSpPr>
        <p:spPr>
          <a:xfrm>
            <a:off x="2711500" y="2178684"/>
            <a:ext cx="2502111" cy="2215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A3542"/>
                </a:solidFill>
                <a:latin typeface="Aptos"/>
              </a:rPr>
              <a:t>서비스 상태 확인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62CA288-1B39-180C-8BC9-4ED9DAABB793}"/>
              </a:ext>
            </a:extLst>
          </p:cNvPr>
          <p:cNvSpPr txBox="1"/>
          <p:nvPr/>
        </p:nvSpPr>
        <p:spPr>
          <a:xfrm>
            <a:off x="801357" y="2387276"/>
            <a:ext cx="2144542" cy="2215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8787"/>
                </a:solidFill>
                <a:latin typeface="Aptos"/>
              </a:rPr>
              <a:t>GET  /api/test-db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4EECB2E-332F-8831-F1F6-4CD6A209F7D9}"/>
              </a:ext>
            </a:extLst>
          </p:cNvPr>
          <p:cNvSpPr txBox="1"/>
          <p:nvPr/>
        </p:nvSpPr>
        <p:spPr>
          <a:xfrm>
            <a:off x="2711500" y="2398568"/>
            <a:ext cx="2502111" cy="2215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A3542"/>
                </a:solidFill>
                <a:latin typeface="Aptos"/>
              </a:rPr>
              <a:t>MySQL 연결 확인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1BC151E-4A10-CEE2-98BE-9C718BF5F8E9}"/>
              </a:ext>
            </a:extLst>
          </p:cNvPr>
          <p:cNvSpPr txBox="1"/>
          <p:nvPr/>
        </p:nvSpPr>
        <p:spPr>
          <a:xfrm>
            <a:off x="801357" y="2631706"/>
            <a:ext cx="2144542" cy="2215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8787"/>
                </a:solidFill>
                <a:latin typeface="Aptos"/>
              </a:rPr>
              <a:t>GET  /api/weather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52120FD-6C3D-9058-3FAD-A3DAC17260F8}"/>
              </a:ext>
            </a:extLst>
          </p:cNvPr>
          <p:cNvSpPr txBox="1"/>
          <p:nvPr/>
        </p:nvSpPr>
        <p:spPr>
          <a:xfrm>
            <a:off x="2698388" y="2642998"/>
            <a:ext cx="2606663" cy="2215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dirty="0" err="1">
                <a:solidFill>
                  <a:srgbClr val="2A3542"/>
                </a:solidFill>
                <a:latin typeface="Aptos"/>
              </a:rPr>
              <a:t>지점·기간</a:t>
            </a:r>
            <a:r>
              <a:rPr sz="1200" b="0" dirty="0">
                <a:solidFill>
                  <a:srgbClr val="2A3542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2A3542"/>
                </a:solidFill>
                <a:latin typeface="Aptos"/>
              </a:rPr>
              <a:t>조건으로</a:t>
            </a:r>
            <a:r>
              <a:rPr sz="1200" b="0" dirty="0">
                <a:solidFill>
                  <a:srgbClr val="2A3542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2A3542"/>
                </a:solidFill>
                <a:latin typeface="Aptos"/>
              </a:rPr>
              <a:t>관측</a:t>
            </a:r>
            <a:r>
              <a:rPr sz="1200" b="0" dirty="0">
                <a:solidFill>
                  <a:srgbClr val="2A3542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2A3542"/>
                </a:solidFill>
                <a:latin typeface="Aptos"/>
              </a:rPr>
              <a:t>데이터</a:t>
            </a:r>
            <a:r>
              <a:rPr sz="1200" b="0" dirty="0">
                <a:solidFill>
                  <a:srgbClr val="2A3542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2A3542"/>
                </a:solidFill>
                <a:latin typeface="Aptos"/>
              </a:rPr>
              <a:t>조회</a:t>
            </a:r>
            <a:endParaRPr sz="1200" b="0" dirty="0">
              <a:solidFill>
                <a:srgbClr val="2A3542"/>
              </a:solidFill>
              <a:latin typeface="Apto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DA69EC1-0FBE-95F4-B3A6-33D74C494E6D}"/>
              </a:ext>
            </a:extLst>
          </p:cNvPr>
          <p:cNvSpPr txBox="1"/>
          <p:nvPr/>
        </p:nvSpPr>
        <p:spPr>
          <a:xfrm>
            <a:off x="801357" y="2894545"/>
            <a:ext cx="2144542" cy="2215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8787"/>
                </a:solidFill>
                <a:latin typeface="Aptos"/>
              </a:rPr>
              <a:t>GET  /api/quality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424CBE3-5B6E-8208-6379-5034FE22524B}"/>
              </a:ext>
            </a:extLst>
          </p:cNvPr>
          <p:cNvSpPr txBox="1"/>
          <p:nvPr/>
        </p:nvSpPr>
        <p:spPr>
          <a:xfrm>
            <a:off x="2711500" y="2905837"/>
            <a:ext cx="2502111" cy="2215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A3542"/>
                </a:solidFill>
                <a:latin typeface="Aptos"/>
              </a:rPr>
              <a:t>날짜별 데이터 품질 진단 결과 조회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2520A12-D550-DE3D-758F-568D7487CA05}"/>
              </a:ext>
            </a:extLst>
          </p:cNvPr>
          <p:cNvSpPr txBox="1"/>
          <p:nvPr/>
        </p:nvSpPr>
        <p:spPr>
          <a:xfrm>
            <a:off x="801357" y="3145111"/>
            <a:ext cx="2144542" cy="2215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8787"/>
                </a:solidFill>
                <a:latin typeface="Aptos"/>
              </a:rPr>
              <a:t>GET  /api/pipeline/runs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F00CEEE-22C2-5B74-2778-484BC65E03F8}"/>
              </a:ext>
            </a:extLst>
          </p:cNvPr>
          <p:cNvSpPr txBox="1"/>
          <p:nvPr/>
        </p:nvSpPr>
        <p:spPr>
          <a:xfrm>
            <a:off x="2711500" y="3156403"/>
            <a:ext cx="2502111" cy="2215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A3542"/>
                </a:solidFill>
                <a:latin typeface="Aptos"/>
              </a:rPr>
              <a:t>파이프라인 실행 이력 조회</a:t>
            </a:r>
          </a:p>
        </p:txBody>
      </p:sp>
      <p:pic>
        <p:nvPicPr>
          <p:cNvPr id="81" name="Picture 34" descr="스크린샷 2026-10-19 141639.png">
            <a:extLst>
              <a:ext uri="{FF2B5EF4-FFF2-40B4-BE49-F238E27FC236}">
                <a16:creationId xmlns:a16="http://schemas.microsoft.com/office/drawing/2014/main" id="{F5210AC9-E300-A95E-3480-3BAF480C08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34" t="11245" r="1834" b="4290"/>
          <a:stretch>
            <a:fillRect/>
          </a:stretch>
        </p:blipFill>
        <p:spPr>
          <a:xfrm>
            <a:off x="469341" y="3601685"/>
            <a:ext cx="4093515" cy="2464063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A26255BF-9F80-9249-22A8-B771AD0EA755}"/>
              </a:ext>
            </a:extLst>
          </p:cNvPr>
          <p:cNvSpPr txBox="1"/>
          <p:nvPr/>
        </p:nvSpPr>
        <p:spPr>
          <a:xfrm>
            <a:off x="566928" y="6168609"/>
            <a:ext cx="10972800" cy="25237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400" dirty="0" err="1"/>
              <a:t>핵심</a:t>
            </a:r>
            <a:r>
              <a:rPr sz="1400" dirty="0"/>
              <a:t>: </a:t>
            </a:r>
            <a:r>
              <a:rPr sz="1400" dirty="0" err="1"/>
              <a:t>조회·품질</a:t>
            </a:r>
            <a:r>
              <a:rPr sz="1400" dirty="0"/>
              <a:t> </a:t>
            </a:r>
            <a:r>
              <a:rPr sz="1400" dirty="0" err="1"/>
              <a:t>진단·파이프라인</a:t>
            </a:r>
            <a:r>
              <a:rPr sz="1400" dirty="0"/>
              <a:t> </a:t>
            </a:r>
            <a:r>
              <a:rPr sz="1400" dirty="0" err="1"/>
              <a:t>실행</a:t>
            </a:r>
            <a:r>
              <a:rPr sz="1400" dirty="0"/>
              <a:t> </a:t>
            </a:r>
            <a:r>
              <a:rPr sz="1400" dirty="0" err="1"/>
              <a:t>이력</a:t>
            </a:r>
            <a:r>
              <a:rPr sz="1400" dirty="0"/>
              <a:t> </a:t>
            </a:r>
            <a:r>
              <a:rPr sz="1400" dirty="0" err="1"/>
              <a:t>API를</a:t>
            </a:r>
            <a:r>
              <a:rPr sz="1400" dirty="0"/>
              <a:t> </a:t>
            </a:r>
            <a:r>
              <a:rPr sz="1400" dirty="0" err="1"/>
              <a:t>기능별로</a:t>
            </a:r>
            <a:r>
              <a:rPr sz="1400" dirty="0"/>
              <a:t> </a:t>
            </a:r>
            <a:r>
              <a:rPr sz="1400" dirty="0" err="1"/>
              <a:t>분리하고</a:t>
            </a:r>
            <a:r>
              <a:rPr sz="1400" dirty="0"/>
              <a:t> React </a:t>
            </a:r>
            <a:r>
              <a:rPr sz="1400" dirty="0" err="1"/>
              <a:t>대시보드에</a:t>
            </a:r>
            <a:r>
              <a:rPr sz="1400" dirty="0"/>
              <a:t> </a:t>
            </a:r>
            <a:r>
              <a:rPr sz="1400" dirty="0" err="1"/>
              <a:t>연동</a:t>
            </a:r>
            <a:endParaRPr sz="14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4900D30-48C0-F533-679C-2A6474A19C0E}"/>
              </a:ext>
            </a:extLst>
          </p:cNvPr>
          <p:cNvSpPr txBox="1"/>
          <p:nvPr/>
        </p:nvSpPr>
        <p:spPr>
          <a:xfrm>
            <a:off x="2379426" y="3677264"/>
            <a:ext cx="4080810" cy="25237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dirty="0" err="1">
                <a:solidFill>
                  <a:srgbClr val="162B48"/>
                </a:solidFill>
                <a:latin typeface="Aptos"/>
              </a:rPr>
              <a:t>FastAPI</a:t>
            </a:r>
            <a:r>
              <a:rPr sz="1400" dirty="0">
                <a:solidFill>
                  <a:srgbClr val="162B48"/>
                </a:solidFill>
                <a:latin typeface="Aptos"/>
              </a:rPr>
              <a:t> Swagger UI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384048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500"/>
              </a:spcAft>
              <a:defRPr sz="850" b="1">
                <a:solidFill>
                  <a:srgbClr val="647484"/>
                </a:solidFill>
                <a:latin typeface="Malgun Gothic"/>
              </a:defRPr>
            </a:pPr>
            <a:r>
              <a:t>07 ·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74910"/>
            <a:ext cx="9692640" cy="437043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F3756"/>
                </a:solidFill>
                <a:latin typeface="Malgun Gothic"/>
              </a:defRPr>
            </a:pPr>
            <a:r>
              <a:rPr lang="ko-KR" altLang="en-US" dirty="0"/>
              <a:t>결과 및</a:t>
            </a:r>
            <a:r>
              <a:rPr dirty="0"/>
              <a:t> </a:t>
            </a:r>
            <a:r>
              <a:rPr dirty="0" err="1"/>
              <a:t>개선</a:t>
            </a:r>
            <a:r>
              <a:rPr lang="ko-KR" altLang="en-US" dirty="0"/>
              <a:t>사항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85800" y="1261872"/>
            <a:ext cx="5285232" cy="2880360"/>
          </a:xfrm>
          <a:prstGeom prst="roundRect">
            <a:avLst>
              <a:gd name="adj" fmla="val 8000"/>
            </a:avLst>
          </a:prstGeom>
          <a:solidFill>
            <a:srgbClr val="EFF5FA"/>
          </a:solidFill>
          <a:ln w="10160"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7919" y="1261872"/>
            <a:ext cx="5647035" cy="2880360"/>
          </a:xfrm>
          <a:prstGeom prst="roundRect">
            <a:avLst>
              <a:gd name="adj" fmla="val 8000"/>
            </a:avLst>
          </a:prstGeom>
          <a:solidFill>
            <a:schemeClr val="bg1">
              <a:lumMod val="95000"/>
            </a:schemeClr>
          </a:solidFill>
          <a:ln w="10160"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298448"/>
            <a:ext cx="64008" cy="28072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298448"/>
            <a:ext cx="64008" cy="28072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481328"/>
            <a:ext cx="448056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F3756"/>
                </a:solidFill>
                <a:latin typeface="Malgun Gothic"/>
              </a:defRPr>
            </a:pPr>
            <a:r>
              <a:t>실행으로 확인한 항목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619" y="1901952"/>
            <a:ext cx="5367528" cy="154503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r>
              <a:rPr sz="1400" dirty="0"/>
              <a:t>• Airflow DAG </a:t>
            </a:r>
            <a:r>
              <a:rPr sz="1400" dirty="0" err="1"/>
              <a:t>수집·품질검사·DB</a:t>
            </a:r>
            <a:r>
              <a:rPr sz="1400" dirty="0"/>
              <a:t> </a:t>
            </a:r>
            <a:r>
              <a:rPr sz="1400" dirty="0" err="1"/>
              <a:t>적재</a:t>
            </a:r>
            <a:r>
              <a:rPr sz="1400" dirty="0"/>
              <a:t> Task </a:t>
            </a:r>
            <a:r>
              <a:rPr sz="1400" dirty="0" err="1"/>
              <a:t>성공</a:t>
            </a:r>
            <a:r>
              <a:rPr sz="1400" dirty="0"/>
              <a:t> </a:t>
            </a:r>
            <a:r>
              <a:rPr sz="1400" dirty="0" err="1"/>
              <a:t>확인</a:t>
            </a:r>
            <a:endParaRPr sz="1400" dirty="0"/>
          </a:p>
          <a:p>
            <a:r>
              <a:rPr sz="1400" dirty="0"/>
              <a:t>• Docker </a:t>
            </a:r>
            <a:r>
              <a:rPr sz="1400" dirty="0" err="1"/>
              <a:t>이미지</a:t>
            </a:r>
            <a:r>
              <a:rPr sz="1400" dirty="0"/>
              <a:t> </a:t>
            </a:r>
            <a:r>
              <a:rPr sz="1400" dirty="0" err="1"/>
              <a:t>빌드</a:t>
            </a:r>
            <a:r>
              <a:rPr sz="1400" dirty="0"/>
              <a:t> 및 </a:t>
            </a:r>
            <a:r>
              <a:rPr sz="1400" dirty="0" err="1"/>
              <a:t>컨테이너</a:t>
            </a:r>
            <a:r>
              <a:rPr sz="1400" dirty="0"/>
              <a:t> ETL </a:t>
            </a:r>
            <a:r>
              <a:rPr sz="1400" dirty="0" err="1"/>
              <a:t>실행</a:t>
            </a:r>
            <a:endParaRPr sz="1400" dirty="0"/>
          </a:p>
          <a:p>
            <a:r>
              <a:rPr sz="1400" dirty="0"/>
              <a:t>• </a:t>
            </a:r>
            <a:r>
              <a:rPr sz="1400" dirty="0" err="1"/>
              <a:t>실행</a:t>
            </a:r>
            <a:r>
              <a:rPr sz="1400" dirty="0"/>
              <a:t> </a:t>
            </a:r>
            <a:r>
              <a:rPr sz="1400" dirty="0" err="1"/>
              <a:t>결과</a:t>
            </a:r>
            <a:r>
              <a:rPr sz="1400" dirty="0"/>
              <a:t>: 2,328건 </a:t>
            </a:r>
            <a:r>
              <a:rPr sz="1400" dirty="0" err="1"/>
              <a:t>처리</a:t>
            </a:r>
            <a:r>
              <a:rPr sz="1400" dirty="0"/>
              <a:t> · </a:t>
            </a:r>
            <a:r>
              <a:rPr sz="1400" dirty="0" err="1"/>
              <a:t>품질검사</a:t>
            </a:r>
            <a:r>
              <a:rPr sz="1400" dirty="0"/>
              <a:t> PASS · CSV/MySQL </a:t>
            </a:r>
            <a:r>
              <a:rPr sz="1400" dirty="0" err="1"/>
              <a:t>적재</a:t>
            </a:r>
            <a:r>
              <a:rPr sz="1400" dirty="0"/>
              <a:t> </a:t>
            </a:r>
            <a:r>
              <a:rPr sz="1400" dirty="0" err="1"/>
              <a:t>확인</a:t>
            </a:r>
            <a:endParaRPr sz="1400" dirty="0"/>
          </a:p>
          <a:p>
            <a:r>
              <a:rPr sz="1400" dirty="0"/>
              <a:t>• MySQL </a:t>
            </a:r>
            <a:r>
              <a:rPr sz="1400" dirty="0" err="1"/>
              <a:t>재조회</a:t>
            </a:r>
            <a:r>
              <a:rPr sz="1400" dirty="0"/>
              <a:t>: 79,148행 = </a:t>
            </a:r>
            <a:r>
              <a:rPr sz="1400" dirty="0" err="1"/>
              <a:t>고유</a:t>
            </a:r>
            <a:r>
              <a:rPr sz="1400" dirty="0"/>
              <a:t> 키 79,148건</a:t>
            </a:r>
          </a:p>
          <a:p>
            <a:r>
              <a:rPr sz="1400" dirty="0"/>
              <a:t>• </a:t>
            </a:r>
            <a:r>
              <a:rPr sz="1400" dirty="0" err="1"/>
              <a:t>FastAPI</a:t>
            </a:r>
            <a:r>
              <a:rPr sz="1400" dirty="0"/>
              <a:t> </a:t>
            </a:r>
            <a:r>
              <a:rPr sz="1400" dirty="0" err="1"/>
              <a:t>조회</a:t>
            </a:r>
            <a:r>
              <a:rPr sz="1400" dirty="0"/>
              <a:t>: HTTP 200 · JSON 24건</a:t>
            </a:r>
          </a:p>
          <a:p>
            <a:r>
              <a:rPr sz="1400" dirty="0"/>
              <a:t>• </a:t>
            </a:r>
            <a:r>
              <a:rPr sz="1400" dirty="0" err="1"/>
              <a:t>잘못된</a:t>
            </a:r>
            <a:r>
              <a:rPr sz="1400" dirty="0"/>
              <a:t> </a:t>
            </a:r>
            <a:r>
              <a:rPr sz="1400" dirty="0" err="1"/>
              <a:t>관측소</a:t>
            </a:r>
            <a:r>
              <a:rPr sz="1400" dirty="0"/>
              <a:t> </a:t>
            </a:r>
            <a:r>
              <a:rPr sz="1400" dirty="0" err="1"/>
              <a:t>요청</a:t>
            </a:r>
            <a:r>
              <a:rPr sz="1400" dirty="0"/>
              <a:t>: HTTP 400</a:t>
            </a:r>
          </a:p>
          <a:p>
            <a:r>
              <a:rPr sz="1400" dirty="0"/>
              <a:t>• React </a:t>
            </a:r>
            <a:r>
              <a:rPr sz="1400" dirty="0" err="1"/>
              <a:t>대시보드에</a:t>
            </a:r>
            <a:r>
              <a:rPr sz="1400" dirty="0"/>
              <a:t> </a:t>
            </a:r>
            <a:r>
              <a:rPr sz="1400" dirty="0" err="1"/>
              <a:t>조회·품질</a:t>
            </a:r>
            <a:r>
              <a:rPr sz="1400" dirty="0"/>
              <a:t> </a:t>
            </a:r>
            <a:r>
              <a:rPr sz="1400" dirty="0" err="1"/>
              <a:t>진단·파이프라인</a:t>
            </a:r>
            <a:r>
              <a:rPr sz="1400" dirty="0"/>
              <a:t> </a:t>
            </a:r>
            <a:r>
              <a:rPr sz="1400" dirty="0" err="1"/>
              <a:t>실행</a:t>
            </a:r>
            <a:r>
              <a:rPr sz="1400" dirty="0"/>
              <a:t> </a:t>
            </a:r>
            <a:r>
              <a:rPr sz="1400" dirty="0" err="1"/>
              <a:t>이력</a:t>
            </a:r>
            <a:r>
              <a:rPr sz="1400" dirty="0"/>
              <a:t> API </a:t>
            </a:r>
            <a:r>
              <a:rPr sz="1400" dirty="0" err="1"/>
              <a:t>연동</a:t>
            </a:r>
            <a:endParaRPr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6455664" y="1481328"/>
            <a:ext cx="4526280" cy="5934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F3756"/>
                </a:solidFill>
                <a:latin typeface="Malgun Gothic"/>
              </a:defRPr>
            </a:pPr>
            <a:r>
              <a:rPr lang="ko-KR" altLang="ko-KR" b="1" dirty="0"/>
              <a:t>후속 개선 및 검증 과제</a:t>
            </a:r>
          </a:p>
          <a:p>
            <a:pPr algn="l">
              <a:spcAft>
                <a:spcPts val="500"/>
              </a:spcAft>
              <a:defRPr sz="1600" b="1">
                <a:solidFill>
                  <a:srgbClr val="1F3756"/>
                </a:solidFill>
                <a:latin typeface="Malgun Gothic"/>
              </a:defRPr>
            </a:pP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694944" y="4480560"/>
            <a:ext cx="10808208" cy="724518"/>
          </a:xfrm>
          <a:prstGeom prst="roundRect">
            <a:avLst>
              <a:gd name="adj" fmla="val 80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4690872"/>
            <a:ext cx="1417320" cy="20621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2F7358"/>
                </a:solidFill>
                <a:latin typeface="Malgun Gothic"/>
              </a:defRPr>
            </a:pPr>
            <a:r>
              <a:rPr dirty="0" err="1">
                <a:solidFill>
                  <a:srgbClr val="002060"/>
                </a:solidFill>
              </a:rPr>
              <a:t>프로젝트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결과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99188" y="5646745"/>
            <a:ext cx="777240" cy="190821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A8485"/>
                </a:solidFill>
                <a:latin typeface="Malgun Gothic"/>
              </a:defRPr>
            </a:pPr>
            <a:r>
              <a:rPr dirty="0">
                <a:solidFill>
                  <a:srgbClr val="002060"/>
                </a:solidFill>
              </a:rPr>
              <a:t>AI </a:t>
            </a:r>
            <a:r>
              <a:rPr dirty="0" err="1">
                <a:solidFill>
                  <a:srgbClr val="002060"/>
                </a:solidFill>
              </a:rPr>
              <a:t>활용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03860" y="5641572"/>
            <a:ext cx="9555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2B343E"/>
                </a:solidFill>
                <a:latin typeface="Malgun Gothic"/>
              </a:defRPr>
            </a:pPr>
            <a:r>
              <a:t>ChatGPT를 활용한 코드 작성 지원·오류 분석 후 직접 실행 결과로 동작 확인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" y="6318504"/>
            <a:ext cx="10972800" cy="10972"/>
          </a:xfrm>
          <a:prstGeom prst="rect">
            <a:avLst/>
          </a:prstGeom>
          <a:solidFill>
            <a:srgbClr val="D6D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6455664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750" b="0">
                <a:solidFill>
                  <a:srgbClr val="647484"/>
                </a:solidFill>
                <a:latin typeface="Malgun Gothic"/>
              </a:defRPr>
            </a:pPr>
            <a:r>
              <a:t>KMA WEATHER DATA PIPELINE  |  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37376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47484"/>
                </a:solidFill>
                <a:latin typeface="Malgun Gothic"/>
              </a:defRPr>
            </a:pPr>
            <a:r>
              <a:t>08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75F9C5-D6EB-363C-6D23-DA94F6793DF0}"/>
              </a:ext>
            </a:extLst>
          </p:cNvPr>
          <p:cNvSpPr txBox="1"/>
          <p:nvPr/>
        </p:nvSpPr>
        <p:spPr>
          <a:xfrm>
            <a:off x="1994062" y="4683555"/>
            <a:ext cx="9744929" cy="252377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r>
              <a:rPr sz="1400" dirty="0" err="1"/>
              <a:t>기상청</a:t>
            </a:r>
            <a:r>
              <a:rPr sz="1400" dirty="0"/>
              <a:t> API </a:t>
            </a:r>
            <a:r>
              <a:rPr sz="1400" dirty="0" err="1"/>
              <a:t>수집</a:t>
            </a:r>
            <a:r>
              <a:rPr sz="1400" dirty="0"/>
              <a:t> → </a:t>
            </a:r>
            <a:r>
              <a:rPr sz="1400" dirty="0" err="1"/>
              <a:t>품질</a:t>
            </a:r>
            <a:r>
              <a:rPr sz="1400" dirty="0"/>
              <a:t> </a:t>
            </a:r>
            <a:r>
              <a:rPr sz="1400" dirty="0" err="1"/>
              <a:t>진단</a:t>
            </a:r>
            <a:r>
              <a:rPr sz="1400" dirty="0"/>
              <a:t> → MySQL UPSERT → Airflow </a:t>
            </a:r>
            <a:r>
              <a:rPr sz="1400" dirty="0" err="1"/>
              <a:t>자동화</a:t>
            </a:r>
            <a:r>
              <a:rPr sz="1400" dirty="0"/>
              <a:t> / Docker </a:t>
            </a:r>
            <a:r>
              <a:rPr sz="1400" dirty="0" err="1"/>
              <a:t>컨테이너</a:t>
            </a:r>
            <a:r>
              <a:rPr sz="1400" dirty="0"/>
              <a:t> </a:t>
            </a:r>
            <a:r>
              <a:rPr sz="1400" dirty="0" err="1"/>
              <a:t>실행</a:t>
            </a:r>
            <a:r>
              <a:rPr sz="1400" dirty="0"/>
              <a:t> → </a:t>
            </a:r>
            <a:r>
              <a:rPr sz="1400" dirty="0" err="1"/>
              <a:t>FastAPI</a:t>
            </a:r>
            <a:r>
              <a:rPr sz="1400" dirty="0"/>
              <a:t> API → React </a:t>
            </a:r>
            <a:r>
              <a:rPr sz="1400" dirty="0" err="1"/>
              <a:t>대시보드</a:t>
            </a:r>
            <a:endParaRPr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52A5FCA-3FDD-C2AB-6E26-03B50E7758FA}"/>
              </a:ext>
            </a:extLst>
          </p:cNvPr>
          <p:cNvSpPr txBox="1"/>
          <p:nvPr/>
        </p:nvSpPr>
        <p:spPr>
          <a:xfrm>
            <a:off x="6252439" y="1861365"/>
            <a:ext cx="5647035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400" dirty="0"/>
          </a:p>
          <a:p>
            <a:r>
              <a:rPr sz="1400" b="1" dirty="0"/>
              <a:t>UPSERT </a:t>
            </a:r>
            <a:r>
              <a:rPr sz="1400" b="1" dirty="0" err="1"/>
              <a:t>효과</a:t>
            </a:r>
            <a:r>
              <a:rPr sz="1400" b="1" dirty="0"/>
              <a:t> </a:t>
            </a:r>
            <a:r>
              <a:rPr sz="1400" b="1" dirty="0" err="1"/>
              <a:t>정량</a:t>
            </a:r>
            <a:r>
              <a:rPr sz="1400" b="1" dirty="0"/>
              <a:t> </a:t>
            </a:r>
            <a:r>
              <a:rPr sz="1400" b="1" dirty="0" err="1"/>
              <a:t>검증</a:t>
            </a:r>
            <a:endParaRPr sz="1400" b="1" dirty="0"/>
          </a:p>
          <a:p>
            <a:r>
              <a:rPr sz="1400" dirty="0" err="1"/>
              <a:t>재실행</a:t>
            </a:r>
            <a:r>
              <a:rPr sz="1400" dirty="0"/>
              <a:t> </a:t>
            </a:r>
            <a:r>
              <a:rPr sz="1400" dirty="0" err="1"/>
              <a:t>전후</a:t>
            </a:r>
            <a:r>
              <a:rPr sz="1400" dirty="0"/>
              <a:t> </a:t>
            </a:r>
            <a:r>
              <a:rPr sz="1400" dirty="0" err="1"/>
              <a:t>신규·갱신·결측</a:t>
            </a:r>
            <a:r>
              <a:rPr sz="1400" dirty="0"/>
              <a:t> </a:t>
            </a:r>
            <a:r>
              <a:rPr sz="1400" dirty="0" err="1"/>
              <a:t>건수를</a:t>
            </a:r>
            <a:r>
              <a:rPr sz="1400" dirty="0"/>
              <a:t> </a:t>
            </a:r>
            <a:r>
              <a:rPr sz="1400" dirty="0" err="1"/>
              <a:t>비교해</a:t>
            </a:r>
            <a:r>
              <a:rPr sz="1400" dirty="0"/>
              <a:t> </a:t>
            </a:r>
            <a:r>
              <a:rPr sz="1400" dirty="0" err="1"/>
              <a:t>실제</a:t>
            </a:r>
            <a:r>
              <a:rPr sz="1400" dirty="0"/>
              <a:t> </a:t>
            </a:r>
            <a:r>
              <a:rPr sz="1400" dirty="0" err="1"/>
              <a:t>데이터</a:t>
            </a:r>
            <a:r>
              <a:rPr sz="1400" dirty="0"/>
              <a:t> </a:t>
            </a:r>
            <a:r>
              <a:rPr sz="1400" dirty="0" err="1"/>
              <a:t>변경</a:t>
            </a:r>
            <a:r>
              <a:rPr sz="1400" dirty="0"/>
              <a:t> </a:t>
            </a:r>
            <a:r>
              <a:rPr sz="1400" dirty="0" err="1"/>
              <a:t>효과</a:t>
            </a:r>
            <a:r>
              <a:rPr sz="1400" dirty="0"/>
              <a:t> </a:t>
            </a:r>
            <a:r>
              <a:rPr sz="1400" dirty="0" err="1"/>
              <a:t>확인</a:t>
            </a:r>
            <a:endParaRPr sz="1400" dirty="0"/>
          </a:p>
          <a:p>
            <a:endParaRPr sz="1400" dirty="0"/>
          </a:p>
          <a:p>
            <a:r>
              <a:rPr sz="1400" b="1" dirty="0" err="1"/>
              <a:t>예외</a:t>
            </a:r>
            <a:r>
              <a:rPr sz="1400" b="1" dirty="0"/>
              <a:t> </a:t>
            </a:r>
            <a:r>
              <a:rPr sz="1400" b="1" dirty="0" err="1"/>
              <a:t>처리</a:t>
            </a:r>
            <a:r>
              <a:rPr sz="1400" b="1" dirty="0"/>
              <a:t> 및 </a:t>
            </a:r>
            <a:r>
              <a:rPr sz="1400" b="1" dirty="0" err="1"/>
              <a:t>자동화</a:t>
            </a:r>
            <a:r>
              <a:rPr sz="1400" b="1" dirty="0"/>
              <a:t> </a:t>
            </a:r>
            <a:r>
              <a:rPr sz="1400" b="1" dirty="0" err="1"/>
              <a:t>테스트</a:t>
            </a:r>
            <a:endParaRPr sz="1400" b="1" dirty="0"/>
          </a:p>
          <a:p>
            <a:r>
              <a:rPr sz="1400" dirty="0"/>
              <a:t>DB </a:t>
            </a:r>
            <a:r>
              <a:rPr sz="1400" dirty="0" err="1"/>
              <a:t>연결</a:t>
            </a:r>
            <a:r>
              <a:rPr sz="1400" dirty="0"/>
              <a:t> </a:t>
            </a:r>
            <a:r>
              <a:rPr sz="1400" dirty="0" err="1"/>
              <a:t>실패·외부</a:t>
            </a:r>
            <a:r>
              <a:rPr sz="1400" dirty="0"/>
              <a:t> API </a:t>
            </a:r>
            <a:r>
              <a:rPr sz="1400" dirty="0" err="1"/>
              <a:t>오류·잘못된</a:t>
            </a:r>
            <a:r>
              <a:rPr sz="1400" dirty="0"/>
              <a:t> </a:t>
            </a:r>
            <a:r>
              <a:rPr sz="1400" dirty="0" err="1"/>
              <a:t>입력에</a:t>
            </a:r>
            <a:r>
              <a:rPr sz="1400" dirty="0"/>
              <a:t> </a:t>
            </a:r>
            <a:r>
              <a:rPr sz="1400" dirty="0" err="1"/>
              <a:t>대한</a:t>
            </a:r>
            <a:r>
              <a:rPr sz="1400" dirty="0"/>
              <a:t> </a:t>
            </a:r>
            <a:r>
              <a:rPr sz="1400" dirty="0" err="1"/>
              <a:t>응답과</a:t>
            </a:r>
            <a:r>
              <a:rPr sz="1400" dirty="0"/>
              <a:t> </a:t>
            </a:r>
            <a:r>
              <a:rPr sz="1400" dirty="0" err="1"/>
              <a:t>테스트</a:t>
            </a:r>
            <a:r>
              <a:rPr sz="1400" dirty="0"/>
              <a:t> </a:t>
            </a:r>
            <a:r>
              <a:rPr sz="1400" dirty="0" err="1"/>
              <a:t>케이스</a:t>
            </a:r>
            <a:r>
              <a:rPr sz="1400" dirty="0"/>
              <a:t> </a:t>
            </a:r>
            <a:r>
              <a:rPr sz="1400" dirty="0" err="1"/>
              <a:t>보강</a:t>
            </a:r>
            <a:endParaRPr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C25314-FFB9-FD40-7125-05992F0A6B64}"/>
              </a:ext>
            </a:extLst>
          </p:cNvPr>
          <p:cNvSpPr txBox="1"/>
          <p:nvPr/>
        </p:nvSpPr>
        <p:spPr>
          <a:xfrm>
            <a:off x="566928" y="282660"/>
            <a:ext cx="5486400" cy="166199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dirty="0">
                <a:solidFill>
                  <a:srgbClr val="2B3036"/>
                </a:solidFill>
                <a:latin typeface="Aptos"/>
              </a:rPr>
              <a:t>0</a:t>
            </a:r>
            <a:r>
              <a:rPr lang="en-US" sz="900" b="1" dirty="0">
                <a:solidFill>
                  <a:srgbClr val="2B3036"/>
                </a:solidFill>
                <a:latin typeface="Aptos"/>
              </a:rPr>
              <a:t>7.</a:t>
            </a:r>
            <a:endParaRPr sz="900" b="1" dirty="0">
              <a:solidFill>
                <a:srgbClr val="2B303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44BC2CE0-82CA-DE3F-EB9B-9AC829529526}"/>
              </a:ext>
            </a:extLst>
          </p:cNvPr>
          <p:cNvSpPr/>
          <p:nvPr/>
        </p:nvSpPr>
        <p:spPr>
          <a:xfrm>
            <a:off x="2780021" y="1967620"/>
            <a:ext cx="4682998" cy="2371181"/>
          </a:xfrm>
          <a:prstGeom prst="roundRect">
            <a:avLst>
              <a:gd name="adj" fmla="val 2673"/>
            </a:avLst>
          </a:prstGeom>
          <a:solidFill>
            <a:srgbClr val="EFF5FA"/>
          </a:solidFill>
          <a:ln w="10160">
            <a:solidFill>
              <a:srgbClr val="D6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6FE6F-4983-0281-BDF8-483387FEDD4E}"/>
              </a:ext>
            </a:extLst>
          </p:cNvPr>
          <p:cNvSpPr txBox="1"/>
          <p:nvPr/>
        </p:nvSpPr>
        <p:spPr>
          <a:xfrm>
            <a:off x="3141282" y="3113228"/>
            <a:ext cx="6098458" cy="92333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ko-KR" sz="5400" dirty="0"/>
              <a:t>Thank you.</a:t>
            </a:r>
            <a:endParaRPr lang="ko-KR" altLang="en-US" sz="5400" dirty="0"/>
          </a:p>
        </p:txBody>
      </p:sp>
    </p:spTree>
    <p:extLst>
      <p:ext uri="{BB962C8B-B14F-4D97-AF65-F5344CB8AC3E}">
        <p14:creationId xmlns:p14="http://schemas.microsoft.com/office/powerpoint/2010/main" val="1064819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1438</Words>
  <Application>Microsoft Office PowerPoint</Application>
  <PresentationFormat>와이드스크린</PresentationFormat>
  <Paragraphs>247</Paragraphs>
  <Slides>10</Slides>
  <Notes>2</Notes>
  <HiddenSlides>0</HiddenSlides>
  <MMClips>1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맑은 고딕</vt:lpstr>
      <vt:lpstr>Aptos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AISW_203_115</dc:creator>
  <cp:keywords/>
  <dc:description>generated using python-pptx</dc:description>
  <cp:lastModifiedBy>양 진희</cp:lastModifiedBy>
  <cp:revision>23</cp:revision>
  <dcterms:created xsi:type="dcterms:W3CDTF">2013-01-27T09:14:16Z</dcterms:created>
  <dcterms:modified xsi:type="dcterms:W3CDTF">2026-10-21T00:13:56Z</dcterms:modified>
  <cp:category/>
</cp:coreProperties>
</file>