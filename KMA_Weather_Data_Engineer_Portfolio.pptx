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D3D"/>
                </a:solidFill>
                <a:latin typeface="Malgun Gothic"/>
              </a:defRPr>
            </a:pPr>
            <a:r>
              <a:t>KMA Weather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4688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A3038"/>
                </a:solidFill>
                <a:latin typeface="Malgun Gothic"/>
              </a:defRPr>
            </a:pPr>
            <a:r>
              <a:t>기상청 ASOS API 기반 데이터 수집 · 품질검증 · MySQL 적재 · Airflow ETL 자동화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324612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657600"/>
            <a:ext cx="64008" cy="123444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803904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핵심 기술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206240"/>
            <a:ext cx="28803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Python · Pandas</a:t>
            </a:r>
            <a:br/>
            <a:r>
              <a:t>MySQL · SQLAlchemy · PyMySQL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3657600"/>
            <a:ext cx="324612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3657600"/>
            <a:ext cx="64008" cy="1234440"/>
          </a:xfrm>
          <a:prstGeom prst="rect">
            <a:avLst/>
          </a:prstGeom>
          <a:solidFill>
            <a:srgbClr val="36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7" y="3803904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자동화 환경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7" y="4206240"/>
            <a:ext cx="28803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Apache Airflow</a:t>
            </a:r>
            <a:br/>
            <a:r>
              <a:t>Docker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657600"/>
            <a:ext cx="324612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3657600"/>
            <a:ext cx="64008" cy="123444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3803904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현재 상태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4206240"/>
            <a:ext cx="28803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API → ETL → Quality → MySQL</a:t>
            </a:r>
            <a:br/>
            <a:r>
              <a:t>Airflow 실행 검증 완료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01.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717C"/>
                </a:solidFill>
                <a:latin typeface="Malgun Gothic"/>
              </a:defRPr>
            </a:pPr>
            <a:r>
              <a:t>외부 데이터를 수집하고 검증하여 저장하는 기본 데이터 파이프라인 구축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32588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6362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65960"/>
            <a:ext cx="31089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기상청 ASOS 데이터의</a:t>
            </a:r>
            <a:br/>
            <a:r>
              <a:t>수집 → 변환 → 품질검증 → DB 적재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64008" cy="1325880"/>
          </a:xfrm>
          <a:prstGeom prst="rect">
            <a:avLst/>
          </a:prstGeom>
          <a:solidFill>
            <a:srgbClr val="36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6362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65960"/>
            <a:ext cx="31089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서울 관측소 STN 108</a:t>
            </a:r>
            <a:br/>
            <a:r>
              <a:t>시간별 관측 데이터 / 하루 24건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64008" cy="132588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6362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현재 구현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65960"/>
            <a:ext cx="31089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Python ETL + Data Quality</a:t>
            </a:r>
            <a:br/>
            <a:r>
              <a:t>MySQL + Airflow + 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46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A3038"/>
                </a:solidFill>
                <a:latin typeface="Malgun Gothic"/>
              </a:defRPr>
            </a:pPr>
            <a:r>
              <a:t>API 호출에 그치지 않고 데이터가 저장소까지 흐르는 구조 구현</a:t>
            </a:r>
          </a:p>
          <a:p>
            <a:pPr>
              <a:spcAft>
                <a:spcPts val="900"/>
              </a:spcAft>
              <a:defRPr sz="1700">
                <a:solidFill>
                  <a:srgbClr val="2A3038"/>
                </a:solidFill>
                <a:latin typeface="Malgun Gothic"/>
              </a:defRPr>
            </a:pPr>
            <a:r>
              <a:t>결측·중복·시간 연속성·값 범위를 적재 전 검증</a:t>
            </a:r>
          </a:p>
          <a:p>
            <a:pPr>
              <a:spcAft>
                <a:spcPts val="900"/>
              </a:spcAft>
              <a:defRPr sz="1700">
                <a:solidFill>
                  <a:srgbClr val="2A3038"/>
                </a:solidFill>
                <a:latin typeface="Malgun Gothic"/>
              </a:defRPr>
            </a:pPr>
            <a:r>
              <a:t>Airflow에서 collect → quality → load 작업을 분리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17C"/>
                </a:solidFill>
                <a:latin typeface="Malgun Gothic"/>
              </a:defRPr>
            </a:pPr>
            <a:r>
              <a:t>KMA Weather Data Pipeline · Data Engineering Portfolio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02. 데이터 파이프라인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717C"/>
                </a:solidFill>
                <a:latin typeface="Malgun Gothic"/>
              </a:defRPr>
            </a:pPr>
            <a:r>
              <a:t>현재 구현 범위와 향후 확장 범위를 구분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50876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2D3D"/>
                </a:solidFill>
                <a:latin typeface="Malgun Gothic"/>
              </a:defRPr>
            </a:pPr>
            <a:r>
              <a:t>KMA ASOS API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39112" y="2148840"/>
            <a:ext cx="411480" cy="274320"/>
          </a:xfrm>
          <a:prstGeom prst="rightArrow">
            <a:avLst/>
          </a:prstGeom>
          <a:solidFill>
            <a:srgbClr val="687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04872" y="1828800"/>
            <a:ext cx="150876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2D3D"/>
                </a:solidFill>
                <a:latin typeface="Malgun Gothic"/>
              </a:defRPr>
            </a:pPr>
            <a:r>
              <a:t>Python</a:t>
            </a:r>
            <a:br/>
            <a:r>
              <a:t>Collect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41063" y="2148840"/>
            <a:ext cx="411480" cy="274320"/>
          </a:xfrm>
          <a:prstGeom prst="rightArrow">
            <a:avLst/>
          </a:prstGeom>
          <a:solidFill>
            <a:srgbClr val="687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06824" y="1828800"/>
            <a:ext cx="150876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2D3D"/>
                </a:solidFill>
                <a:latin typeface="Malgun Gothic"/>
              </a:defRPr>
            </a:pPr>
            <a:r>
              <a:t>Transform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43016" y="2148840"/>
            <a:ext cx="411480" cy="274320"/>
          </a:xfrm>
          <a:prstGeom prst="rightArrow">
            <a:avLst/>
          </a:prstGeom>
          <a:solidFill>
            <a:srgbClr val="687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08776" y="1828800"/>
            <a:ext cx="150876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2D3D"/>
                </a:solidFill>
                <a:latin typeface="Malgun Gothic"/>
              </a:defRPr>
            </a:pPr>
            <a:r>
              <a:t>Data Quality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44968" y="2148840"/>
            <a:ext cx="411480" cy="274320"/>
          </a:xfrm>
          <a:prstGeom prst="rightArrow">
            <a:avLst/>
          </a:prstGeom>
          <a:solidFill>
            <a:srgbClr val="687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0728" y="1828800"/>
            <a:ext cx="150876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2D3D"/>
                </a:solidFill>
                <a:latin typeface="Malgun Gothic"/>
              </a:defRPr>
            </a:pPr>
            <a:r>
              <a:t>MySQL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646920" y="2148840"/>
            <a:ext cx="411480" cy="274320"/>
          </a:xfrm>
          <a:prstGeom prst="rightArrow">
            <a:avLst/>
          </a:prstGeom>
          <a:solidFill>
            <a:srgbClr val="687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12680" y="1828800"/>
            <a:ext cx="150876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2D3D"/>
                </a:solidFill>
                <a:latin typeface="Malgun Gothic"/>
              </a:defRPr>
            </a:pPr>
            <a:r>
              <a:t>Airflow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840480"/>
            <a:ext cx="365760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0" y="3840480"/>
            <a:ext cx="64008" cy="114300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9968" y="3986784"/>
            <a:ext cx="3291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향후 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4389120"/>
            <a:ext cx="32918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FastAPI</a:t>
            </a:r>
            <a:br/>
            <a:r>
              <a:t>MySQL 데이터를 JSON API로 제공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840480"/>
            <a:ext cx="365760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840480"/>
            <a:ext cx="64008" cy="1143000"/>
          </a:xfrm>
          <a:prstGeom prst="rect">
            <a:avLst/>
          </a:prstGeom>
          <a:solidFill>
            <a:srgbClr val="36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3986784"/>
            <a:ext cx="3291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향후 확장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389120"/>
            <a:ext cx="32918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Dashboard</a:t>
            </a:r>
            <a:br/>
            <a:r>
              <a:t>수집 현황·품질 결과 시각화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492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038"/>
                </a:solidFill>
                <a:latin typeface="Malgun Gothic"/>
              </a:defRPr>
            </a:pPr>
            <a:r>
              <a:t>현재 완료: API → Python ETL → Quality → MySQL → Airflow 실행 검증</a:t>
            </a:r>
          </a:p>
          <a:p>
            <a:pPr>
              <a:spcAft>
                <a:spcPts val="900"/>
              </a:spcAft>
              <a:defRPr sz="1300">
                <a:solidFill>
                  <a:srgbClr val="2A3038"/>
                </a:solidFill>
                <a:latin typeface="Malgun Gothic"/>
              </a:defRPr>
            </a:pPr>
            <a:r>
              <a:t>FastAPI / Dashboard는 미구현이며 향후 확장 항목으로 관리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17C"/>
                </a:solidFill>
                <a:latin typeface="Malgun Gothic"/>
              </a:defRPr>
            </a:pPr>
            <a:r>
              <a:t>KMA Weather Data Pipeline · Data Engineering Portfolio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03. 데이터 수집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717C"/>
                </a:solidFill>
                <a:latin typeface="Malgun Gothic"/>
              </a:defRPr>
            </a:pPr>
            <a:r>
              <a:t>KMA API에서 하루 단위 시간별 데이터를 수집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21208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" cy="132588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1790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수집 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20240"/>
            <a:ext cx="484632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서울 STN 108 · 전일 00:00~23:00</a:t>
            </a:r>
            <a:br/>
            <a:r>
              <a:t>하루 24건 기준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21208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64008" cy="1325880"/>
          </a:xfrm>
          <a:prstGeom prst="rect">
            <a:avLst/>
          </a:prstGeom>
          <a:solidFill>
            <a:srgbClr val="36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51790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수집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1920240"/>
            <a:ext cx="484632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requests로 API 호출 → 응답 파싱</a:t>
            </a:r>
            <a:br/>
            <a:r>
              <a:t>필요 컬럼 선택 → DataFrame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A3038"/>
                </a:solidFill>
                <a:latin typeface="Malgun Gothic"/>
              </a:defRPr>
            </a:pPr>
            <a:r>
              <a:t>API 주석/헤더 행을 제외하고 실제 데이터만 추출</a:t>
            </a:r>
          </a:p>
          <a:p>
            <a:pPr>
              <a:spcAft>
                <a:spcPts val="900"/>
              </a:spcAft>
              <a:defRPr sz="1600">
                <a:solidFill>
                  <a:srgbClr val="2A3038"/>
                </a:solidFill>
                <a:latin typeface="Malgun Gothic"/>
              </a:defRPr>
            </a:pPr>
            <a:r>
              <a:t>TM, STN, WD, WS, PA, PS, TA, TD, HM 등 필요한 필드 선택</a:t>
            </a:r>
          </a:p>
          <a:p>
            <a:pPr>
              <a:spcAft>
                <a:spcPts val="900"/>
              </a:spcAft>
              <a:defRPr sz="1600">
                <a:solidFill>
                  <a:srgbClr val="2A3038"/>
                </a:solidFill>
                <a:latin typeface="Malgun Gothic"/>
              </a:defRPr>
            </a:pPr>
            <a:r>
              <a:t>TM을 datetime으로 변환하고 수치형 컬럼을 숫자로 변환</a:t>
            </a:r>
          </a:p>
          <a:p>
            <a:pPr>
              <a:spcAft>
                <a:spcPts val="900"/>
              </a:spcAft>
              <a:defRPr sz="1600">
                <a:solidFill>
                  <a:srgbClr val="2A3038"/>
                </a:solidFill>
                <a:latin typeface="Malgun Gothic"/>
              </a:defRPr>
            </a:pPr>
            <a:r>
              <a:t>기상청 결측 표현값 -9, -9.0을 결측값으로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17C"/>
                </a:solidFill>
                <a:latin typeface="Malgun Gothic"/>
              </a:defRPr>
            </a:pPr>
            <a:r>
              <a:t>KMA Weather Data Pipeline · Data Engineering Portfolio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04. Python ETL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717C"/>
                </a:solidFill>
                <a:latin typeface="Malgun Gothic"/>
              </a:defRPr>
            </a:pPr>
            <a:r>
              <a:t>수집·변환·검증·저장 단계를 함수 단위로 분리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2316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64008" cy="182880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55063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Extract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57400"/>
            <a:ext cx="2057400" cy="1170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KMA API 호출</a:t>
            </a:r>
            <a:br/>
            <a:r>
              <a:t>requests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2240280"/>
            <a:ext cx="411480" cy="274320"/>
          </a:xfrm>
          <a:prstGeom prst="rightArrow">
            <a:avLst/>
          </a:prstGeom>
          <a:solidFill>
            <a:srgbClr val="687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39" y="1508760"/>
            <a:ext cx="242316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39" y="1508760"/>
            <a:ext cx="64008" cy="182880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7" y="1655063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2057400"/>
            <a:ext cx="2057400" cy="1170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datetime / numeric 변환</a:t>
            </a:r>
            <a:br/>
            <a:r>
              <a:t>결측 처리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9320" y="2240280"/>
            <a:ext cx="411480" cy="274320"/>
          </a:xfrm>
          <a:prstGeom prst="rightArrow">
            <a:avLst/>
          </a:prstGeom>
          <a:solidFill>
            <a:srgbClr val="687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508760"/>
            <a:ext cx="242316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508760"/>
            <a:ext cx="64008" cy="1828800"/>
          </a:xfrm>
          <a:prstGeom prst="rect">
            <a:avLst/>
          </a:prstGeom>
          <a:solidFill>
            <a:srgbClr val="36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655063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057400"/>
            <a:ext cx="2057400" cy="1170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Data Quality</a:t>
            </a:r>
            <a:br/>
            <a:r>
              <a:t>검사 함수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69680" y="2240280"/>
            <a:ext cx="411480" cy="274320"/>
          </a:xfrm>
          <a:prstGeom prst="rightArrow">
            <a:avLst/>
          </a:prstGeom>
          <a:solidFill>
            <a:srgbClr val="687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81159" y="1508760"/>
            <a:ext cx="242316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59" y="1508760"/>
            <a:ext cx="64008" cy="182880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82328" y="1655063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2057400"/>
            <a:ext cx="2057400" cy="1170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CSV + MySQL</a:t>
            </a:r>
            <a:br/>
            <a:r>
              <a:t>적재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77639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A3038"/>
                </a:solidFill>
                <a:latin typeface="Malgun Gothic"/>
              </a:defRPr>
            </a:pPr>
            <a:r>
              <a:t>SQLAlchemy + PyMySQL로 MySQL 연결</a:t>
            </a:r>
          </a:p>
          <a:p>
            <a:pPr>
              <a:spcAft>
                <a:spcPts val="900"/>
              </a:spcAft>
              <a:defRPr sz="1600">
                <a:solidFill>
                  <a:srgbClr val="2A3038"/>
                </a:solidFill>
                <a:latin typeface="Malgun Gothic"/>
              </a:defRPr>
            </a:pPr>
            <a:r>
              <a:t>INSERT IGNORE와 (tm, stn) Primary Key로 동일 데이터 재적재 방지</a:t>
            </a:r>
          </a:p>
          <a:p>
            <a:pPr>
              <a:spcAft>
                <a:spcPts val="900"/>
              </a:spcAft>
              <a:defRPr sz="1600">
                <a:solidFill>
                  <a:srgbClr val="2A3038"/>
                </a:solidFill>
                <a:latin typeface="Malgun Gothic"/>
              </a:defRPr>
            </a:pPr>
            <a:r>
              <a:t>직접 실행으로 ETL 전체 흐름 검증 후 Airflow task로 연결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17C"/>
                </a:solidFill>
                <a:latin typeface="Malgun Gothic"/>
              </a:defRPr>
            </a:pPr>
            <a:r>
              <a:t>KMA Weather Data Pipeline · Data Engineering Portfolio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05. Data Quality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717C"/>
                </a:solidFill>
                <a:latin typeface="Malgun Gothic"/>
              </a:defRPr>
            </a:pPr>
            <a:r>
              <a:t>시계열 데이터 특성을 고려한 적재 전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9377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64008" cy="96012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7218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결측값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74519"/>
            <a:ext cx="4572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전체 결측값 개수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49377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64008" cy="960120"/>
          </a:xfrm>
          <a:prstGeom prst="rect">
            <a:avLst/>
          </a:prstGeom>
          <a:solidFill>
            <a:srgbClr val="36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7218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중복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74519"/>
            <a:ext cx="4572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TM + STN 기준 중복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49377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560320"/>
            <a:ext cx="64008" cy="960120"/>
          </a:xfrm>
          <a:prstGeom prst="rect">
            <a:avLst/>
          </a:prstGeom>
          <a:solidFill>
            <a:srgbClr val="36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0662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시간 순서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108960"/>
            <a:ext cx="4572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관측 시간 오름차순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560320"/>
            <a:ext cx="49377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560320"/>
            <a:ext cx="64008" cy="960120"/>
          </a:xfrm>
          <a:prstGeom prst="rect">
            <a:avLst/>
          </a:prstGeom>
          <a:solidFill>
            <a:srgbClr val="36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70662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1시간 간격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108960"/>
            <a:ext cx="4572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인접 관측값의 1시간 간격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94760"/>
            <a:ext cx="49377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794760"/>
            <a:ext cx="64008" cy="96012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941064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범위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343400"/>
            <a:ext cx="4572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WD / WS / HM / TA 범위 검사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166360"/>
            <a:ext cx="10424160" cy="7772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24건 · 결측 0 · 중복 0 · 시간 순서 정상 · 1시간 간격 정상 · 범위 오류 없음 · 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17C"/>
                </a:solidFill>
                <a:latin typeface="Malgun Gothic"/>
              </a:defRPr>
            </a:pPr>
            <a:r>
              <a:t>KMA Weather Data Pipeline · Data Engineering Portfolio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06. MySQL 적재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717C"/>
                </a:solidFill>
                <a:latin typeface="Malgun Gothic"/>
              </a:defRPr>
            </a:pPr>
            <a:r>
              <a:t>시계열 관측값을 관계형 테이블에 저장하고 중복 적재 방지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41732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7218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테이블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74519"/>
            <a:ext cx="4846320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weather_observation</a:t>
            </a:r>
            <a:br/>
            <a:r>
              <a:t>Primary Key: (tm, stn)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120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64008" cy="1417320"/>
          </a:xfrm>
          <a:prstGeom prst="rect">
            <a:avLst/>
          </a:prstGeom>
          <a:solidFill>
            <a:srgbClr val="36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47218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적재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874519"/>
            <a:ext cx="4846320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INSERT IGNORE</a:t>
            </a:r>
            <a:br/>
            <a:r>
              <a:t>동일 키 존재 시 재적재하지 않음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A3038"/>
                </a:solidFill>
                <a:latin typeface="Malgun Gothic"/>
              </a:defRPr>
            </a:pPr>
            <a:r>
              <a:t>전체 수집 데이터 24건</a:t>
            </a:r>
          </a:p>
          <a:p>
            <a:pPr>
              <a:spcAft>
                <a:spcPts val="900"/>
              </a:spcAft>
              <a:defRPr sz="1700">
                <a:solidFill>
                  <a:srgbClr val="2A3038"/>
                </a:solidFill>
                <a:latin typeface="Malgun Gothic"/>
              </a:defRPr>
            </a:pPr>
            <a:r>
              <a:t>동일 날짜를 다시 실행했을 때 신규 적재 0건으로 중복 방지 확인</a:t>
            </a:r>
          </a:p>
          <a:p>
            <a:pPr>
              <a:spcAft>
                <a:spcPts val="900"/>
              </a:spcAft>
              <a:defRPr sz="1700">
                <a:solidFill>
                  <a:srgbClr val="2A3038"/>
                </a:solidFill>
                <a:latin typeface="Malgun Gothic"/>
              </a:defRPr>
            </a:pPr>
            <a:r>
              <a:t>MySQL Workbench에서 weather_observation 조회 및 24개 행 반환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800600"/>
            <a:ext cx="996696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800600"/>
            <a:ext cx="64008" cy="91440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946904"/>
            <a:ext cx="9601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주요 컬럼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534924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tm | stn | wd | ws | pa | ps | ta | td | hm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17C"/>
                </a:solidFill>
                <a:latin typeface="Malgun Gothic"/>
              </a:defRPr>
            </a:pPr>
            <a:r>
              <a:t>KMA Weather Data Pipeline · Data Engineering Portfolio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07. Airflow ETL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717C"/>
                </a:solidFill>
                <a:latin typeface="Malgun Gothic"/>
              </a:defRPr>
            </a:pPr>
            <a:r>
              <a:t>수집·검증·적재를 DAG로 연결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600200"/>
            <a:ext cx="237744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2D3D"/>
                </a:solidFill>
                <a:latin typeface="Malgun Gothic"/>
              </a:defRPr>
            </a:pPr>
            <a:r>
              <a:t>collect_weather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538728" y="1993392"/>
            <a:ext cx="685800" cy="320040"/>
          </a:xfrm>
          <a:prstGeom prst="rightArrow">
            <a:avLst/>
          </a:prstGeom>
          <a:solidFill>
            <a:srgbClr val="687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09160" y="1600200"/>
            <a:ext cx="237744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2D3D"/>
                </a:solidFill>
                <a:latin typeface="Malgun Gothic"/>
              </a:defRPr>
            </a:pPr>
            <a:r>
              <a:t>quality_check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96328" y="1993392"/>
            <a:ext cx="685800" cy="320040"/>
          </a:xfrm>
          <a:prstGeom prst="rightArrow">
            <a:avLst/>
          </a:prstGeom>
          <a:solidFill>
            <a:srgbClr val="687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66760" y="1600200"/>
            <a:ext cx="237744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2D3D"/>
                </a:solidFill>
                <a:latin typeface="Malgun Gothic"/>
              </a:defRPr>
            </a:pPr>
            <a:r>
              <a:t>load_mysql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A3038"/>
                </a:solidFill>
                <a:latin typeface="Malgun Gothic"/>
              </a:defRPr>
            </a:pPr>
            <a:r>
              <a:t>DAG: collect_weather → quality_check → load_mysql</a:t>
            </a:r>
          </a:p>
          <a:p>
            <a:pPr>
              <a:spcAft>
                <a:spcPts val="900"/>
              </a:spcAft>
              <a:defRPr sz="1600">
                <a:solidFill>
                  <a:srgbClr val="2A3038"/>
                </a:solidFill>
                <a:latin typeface="Malgun Gothic"/>
              </a:defRPr>
            </a:pPr>
            <a:r>
              <a:t>매일 01:00 (Asia/Seoul) 스케줄</a:t>
            </a:r>
          </a:p>
          <a:p>
            <a:pPr>
              <a:spcAft>
                <a:spcPts val="900"/>
              </a:spcAft>
              <a:defRPr sz="1600">
                <a:solidFill>
                  <a:srgbClr val="2A3038"/>
                </a:solidFill>
                <a:latin typeface="Malgun Gothic"/>
              </a:defRPr>
            </a:pPr>
            <a:r>
              <a:t>catchup=False로 과거 실행 자동 재처리 방지</a:t>
            </a:r>
          </a:p>
          <a:p>
            <a:pPr>
              <a:spcAft>
                <a:spcPts val="900"/>
              </a:spcAft>
              <a:defRPr sz="1600">
                <a:solidFill>
                  <a:srgbClr val="2A3038"/>
                </a:solidFill>
                <a:latin typeface="Malgun Gothic"/>
              </a:defRPr>
            </a:pPr>
            <a:r>
              <a:t>Docker 환경에서 Airflow 실행 및 Windows MySQL 연동</a:t>
            </a:r>
          </a:p>
          <a:p>
            <a:pPr>
              <a:spcAft>
                <a:spcPts val="900"/>
              </a:spcAft>
              <a:defRPr sz="1600">
                <a:solidFill>
                  <a:srgbClr val="2A3038"/>
                </a:solidFill>
                <a:latin typeface="Malgun Gothic"/>
              </a:defRPr>
            </a:pPr>
            <a:r>
              <a:t>실제 수동 실행에서 3개 task 모두 성공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17C"/>
                </a:solidFill>
                <a:latin typeface="Malgun Gothic"/>
              </a:defRPr>
            </a:pPr>
            <a:r>
              <a:t>KMA Weather Data Pipeline · Data Engineering Portfolio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08. 실행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717C"/>
                </a:solidFill>
                <a:latin typeface="Malgun Gothic"/>
              </a:defRPr>
            </a:pPr>
            <a:r>
              <a:t>Windows 개발환경에서 Docker 기반 Airflow와 로컬 MySQL 연결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3832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" cy="150876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17904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20240"/>
            <a:ext cx="301752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Windows</a:t>
            </a:r>
            <a:br/>
            <a:r>
              <a:t>Conda · weather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64008" cy="1508760"/>
          </a:xfrm>
          <a:prstGeom prst="rect">
            <a:avLst/>
          </a:prstGeom>
          <a:solidFill>
            <a:srgbClr val="36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17904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20240"/>
            <a:ext cx="301752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Airflow 3.3.1</a:t>
            </a:r>
            <a:br/>
            <a:r>
              <a:t>Docker Compose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3832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64008" cy="150876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17904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920240"/>
            <a:ext cx="301752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MySQL</a:t>
            </a:r>
            <a:br/>
            <a:r>
              <a:t>weather_db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2044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A3038"/>
                </a:solidFill>
                <a:latin typeface="Malgun Gothic"/>
              </a:defRPr>
            </a:pPr>
            <a:r>
              <a:t>Airflow 컨테이너에서 /opt/weather 경로로 프로젝트 파일 접근</a:t>
            </a:r>
          </a:p>
          <a:p>
            <a:pPr>
              <a:spcAft>
                <a:spcPts val="900"/>
              </a:spcAft>
              <a:defRPr sz="1600">
                <a:solidFill>
                  <a:srgbClr val="2A3038"/>
                </a:solidFill>
                <a:latin typeface="Malgun Gothic"/>
              </a:defRPr>
            </a:pPr>
            <a:r>
              <a:t>host.docker.internal을 통해 컨테이너에서 Windows MySQL 연결</a:t>
            </a:r>
          </a:p>
          <a:p>
            <a:pPr>
              <a:spcAft>
                <a:spcPts val="900"/>
              </a:spcAft>
              <a:defRPr sz="1600">
                <a:solidFill>
                  <a:srgbClr val="2A3038"/>
                </a:solidFill>
                <a:latin typeface="Malgun Gothic"/>
              </a:defRPr>
            </a:pPr>
            <a:r>
              <a:t>Docker Compose 기반으로 Airflow 실행환경 구성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17C"/>
                </a:solidFill>
                <a:latin typeface="Malgun Gothic"/>
              </a:defRPr>
            </a:pPr>
            <a:r>
              <a:t>KMA Weather Data Pipeline · Data Engineering Portfolio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09. 구현 검증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717C"/>
                </a:solidFill>
                <a:latin typeface="Malgun Gothic"/>
              </a:defRPr>
            </a:pPr>
            <a:r>
              <a:t>실제 실행 결과를 기준으로 현재 구현 범위를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20440" cy="434340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4343400"/>
          </a:xfrm>
          <a:prstGeom prst="rect">
            <a:avLst/>
          </a:prstGeom>
          <a:solidFill>
            <a:srgbClr val="36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7218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① Python ETL /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74519"/>
            <a:ext cx="3154680" cy="3685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24건 수집</a:t>
            </a:r>
            <a:br/>
            <a:r>
              <a:t>결측 0건 · 중복 0건</a:t>
            </a:r>
            <a:br/>
            <a:r>
              <a:t>시간 순서 오류 False</a:t>
            </a:r>
            <a:br/>
            <a:r>
              <a:t>1시간 간격 오류 False</a:t>
            </a:r>
            <a:br/>
            <a:r>
              <a:t>범위 오류 {}</a:t>
            </a:r>
            <a:br/>
            <a:br/>
            <a:r>
              <a:t>품질검증 결과: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434340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64008" cy="434340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7218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② Airflow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74519"/>
            <a:ext cx="3154680" cy="3685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collect_weather  성공</a:t>
            </a:r>
            <a:br/>
            <a:r>
              <a:t>quality_check   성공</a:t>
            </a:r>
            <a:br/>
            <a:r>
              <a:t>load_mysql      성공</a:t>
            </a:r>
            <a:br/>
            <a:br/>
            <a:r>
              <a:t>수집 → 검증 → 적재</a:t>
            </a:r>
            <a:br/>
            <a:r>
              <a:t>3단계 실행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520440" cy="434340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64008" cy="434340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47218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③ MySQL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154680" cy="3685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weather_db</a:t>
            </a:r>
            <a:br/>
            <a:r>
              <a:t>weather_observation</a:t>
            </a:r>
            <a:br/>
            <a:br/>
            <a:r>
              <a:t>SELECT *</a:t>
            </a:r>
            <a:br/>
            <a:r>
              <a:t>ORDER BY tm</a:t>
            </a:r>
            <a:br/>
            <a:r>
              <a:t>LIMIT 24</a:t>
            </a:r>
            <a:br/>
            <a:br/>
            <a:r>
              <a:t>24 row(s) returned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17C"/>
                </a:solidFill>
                <a:latin typeface="Malgun Gothic"/>
              </a:defRPr>
            </a:pPr>
            <a:r>
              <a:t>KMA Weather Data Pipeline · Data Engineering Portfolio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10. 데이터 엔지니어링 관점의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717C"/>
                </a:solidFill>
                <a:latin typeface="Malgun Gothic"/>
              </a:defRPr>
            </a:pPr>
            <a:r>
              <a:t>신입 지원에서 설명할 수 있는 구현 포인트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375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32588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72184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데이터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74519"/>
            <a:ext cx="297180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외부 API 연동 및 전일 데이터 자동 수집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3375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64008" cy="1325880"/>
          </a:xfrm>
          <a:prstGeom prst="rect">
            <a:avLst/>
          </a:prstGeom>
          <a:solidFill>
            <a:srgbClr val="36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472184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데이터 품질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74519"/>
            <a:ext cx="297180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결측·중복·시간 연속성·범위 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3375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64008" cy="132588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472184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저장 안정성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297180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Primary Key + INSERT IGN ORE로 중복 방지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71800"/>
            <a:ext cx="33375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971800"/>
            <a:ext cx="64008" cy="132588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118104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오케스트레이션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520440"/>
            <a:ext cx="297180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Airflow task 분리 및 DAG 관리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971800"/>
            <a:ext cx="33375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971800"/>
            <a:ext cx="64008" cy="1325880"/>
          </a:xfrm>
          <a:prstGeom prst="rect">
            <a:avLst/>
          </a:prstGeom>
          <a:solidFill>
            <a:srgbClr val="36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118104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환경 구성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520440"/>
            <a:ext cx="297180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Docker 기반 Airflow + MySQL 연동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971800"/>
            <a:ext cx="33375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2971800"/>
            <a:ext cx="64008" cy="132588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3118104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확장성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3520440"/>
            <a:ext cx="297180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FastAPI·Dashboard로 향후 확장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8006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A3038"/>
                </a:solidFill>
                <a:latin typeface="Malgun Gothic"/>
              </a:defRPr>
            </a:pPr>
            <a:r>
              <a:t>핵심은 기술 개수보다 데이터가 들어와 검증되고 저장되는 흐름을 직접 구현하고 실행 결과로 확인한 경험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17C"/>
                </a:solidFill>
                <a:latin typeface="Malgun Gothic"/>
              </a:defRPr>
            </a:pPr>
            <a:r>
              <a:t>KMA Weather Data Pipeline · Data Engineering Portfolio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  <a:latin typeface="Malgun Gothic"/>
              </a:defRPr>
            </a:pPr>
            <a:r>
              <a:t>11. 향후 개발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717C"/>
                </a:solidFill>
                <a:latin typeface="Malgun Gothic"/>
              </a:defRPr>
            </a:pPr>
            <a:r>
              <a:t>현재 구현을 기반으로 데이터 제공·시각화까지 확장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514600" cy="310896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3108960"/>
          </a:xfrm>
          <a:prstGeom prst="rect">
            <a:avLst/>
          </a:prstGeom>
          <a:solidFill>
            <a:srgbClr val="36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63624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65960"/>
            <a:ext cx="2148840" cy="24505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KMA API</a:t>
            </a:r>
            <a:br/>
            <a:r>
              <a:t>Python ETL</a:t>
            </a:r>
            <a:br/>
            <a:r>
              <a:t>Data Quality</a:t>
            </a:r>
            <a:br/>
            <a:r>
              <a:t>MySQL</a:t>
            </a:r>
            <a:br/>
            <a:r>
              <a:t>Airflow</a:t>
            </a:r>
            <a:br/>
            <a:r>
              <a:t>Docker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36391" y="2743200"/>
            <a:ext cx="310896" cy="274320"/>
          </a:xfrm>
          <a:prstGeom prst="rightArrow">
            <a:avLst/>
          </a:prstGeom>
          <a:solidFill>
            <a:srgbClr val="687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14600" cy="310896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64008" cy="310896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1563624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다음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1965960"/>
            <a:ext cx="2148840" cy="24505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FastAPI</a:t>
            </a:r>
            <a:br/>
            <a:r>
              <a:t>조회 API</a:t>
            </a:r>
            <a:br/>
            <a:r>
              <a:t>JSON 제공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16752" y="2743200"/>
            <a:ext cx="310896" cy="274320"/>
          </a:xfrm>
          <a:prstGeom prst="rightArrow">
            <a:avLst/>
          </a:prstGeom>
          <a:solidFill>
            <a:srgbClr val="687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1417320"/>
            <a:ext cx="2514600" cy="310896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417320"/>
            <a:ext cx="64008" cy="310896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563624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다음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1965960"/>
            <a:ext cx="2148840" cy="24505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Dashboard</a:t>
            </a:r>
            <a:br/>
            <a:r>
              <a:t>수집 현황</a:t>
            </a:r>
            <a:br/>
            <a:r>
              <a:t>품질 결과 시각화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97112" y="2743200"/>
            <a:ext cx="310896" cy="274320"/>
          </a:xfrm>
          <a:prstGeom prst="rightArrow">
            <a:avLst/>
          </a:prstGeom>
          <a:solidFill>
            <a:srgbClr val="687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40" y="1417320"/>
            <a:ext cx="2514600" cy="310896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417320"/>
            <a:ext cx="64008" cy="310896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6608" y="1563624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마무리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8" y="1965960"/>
            <a:ext cx="2148840" cy="24505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Docker Compose 정리</a:t>
            </a:r>
            <a:br/>
            <a:r>
              <a:t>README / 실행 가이드</a:t>
            </a:r>
            <a:br/>
            <a:r>
              <a:t>GitHub 문서화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83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A3038"/>
                </a:solidFill>
                <a:latin typeface="Malgun Gothic"/>
              </a:defRPr>
            </a:pPr>
            <a:r>
              <a:t>완료 기능과 예정 기능을 구분하여 문서화</a:t>
            </a:r>
          </a:p>
          <a:p>
            <a:pPr>
              <a:spcAft>
                <a:spcPts val="900"/>
              </a:spcAft>
              <a:defRPr sz="1500">
                <a:solidFill>
                  <a:srgbClr val="2A3038"/>
                </a:solidFill>
                <a:latin typeface="Malgun Gothic"/>
              </a:defRPr>
            </a:pPr>
            <a:r>
              <a:t>FastAPI와 Dashboard 추가 후 수집 → 저장 → 제공 → 시각화까지 연결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17C"/>
                </a:solidFill>
                <a:latin typeface="Malgun Gothic"/>
              </a:defRPr>
            </a:pPr>
            <a:r>
              <a:t>KMA Weather Data Pipeline · Data Engineering Portfolio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2D3D"/>
                </a:solidFill>
                <a:latin typeface="Malgun Gothic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659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465A4"/>
                </a:solidFill>
                <a:latin typeface="Malgun Gothic"/>
              </a:defRPr>
            </a:pPr>
            <a:r>
              <a:t>KMA Weather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A3038"/>
                </a:solidFill>
                <a:latin typeface="Malgun Gothic"/>
              </a:defRPr>
            </a:pPr>
            <a:r>
              <a:t>Python 기반 데이터 수집 및 ETL</a:t>
            </a:r>
          </a:p>
          <a:p>
            <a:pPr>
              <a:spcAft>
                <a:spcPts val="900"/>
              </a:spcAft>
              <a:defRPr sz="1800">
                <a:solidFill>
                  <a:srgbClr val="2A3038"/>
                </a:solidFill>
                <a:latin typeface="Malgun Gothic"/>
              </a:defRPr>
            </a:pPr>
            <a:r>
              <a:t>Data Quality 검증</a:t>
            </a:r>
          </a:p>
          <a:p>
            <a:pPr>
              <a:spcAft>
                <a:spcPts val="900"/>
              </a:spcAft>
              <a:defRPr sz="1800">
                <a:solidFill>
                  <a:srgbClr val="2A3038"/>
                </a:solidFill>
                <a:latin typeface="Malgun Gothic"/>
              </a:defRPr>
            </a:pPr>
            <a:r>
              <a:t>MySQL 적재 및 중복 방지</a:t>
            </a:r>
          </a:p>
          <a:p>
            <a:pPr>
              <a:spcAft>
                <a:spcPts val="900"/>
              </a:spcAft>
              <a:defRPr sz="1800">
                <a:solidFill>
                  <a:srgbClr val="2A3038"/>
                </a:solidFill>
                <a:latin typeface="Malgun Gothic"/>
              </a:defRPr>
            </a:pPr>
            <a:r>
              <a:t>Airflow + Docker 기반 자동화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880360"/>
            <a:ext cx="347472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2880360"/>
            <a:ext cx="64008" cy="164592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0688" y="302666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  <a:latin typeface="Malgun Gothic"/>
              </a:defRPr>
            </a:pPr>
            <a: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0688" y="3429000"/>
            <a:ext cx="310896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A3038"/>
                </a:solidFill>
                <a:latin typeface="Malgun Gothic"/>
              </a:defRPr>
            </a:pPr>
            <a:r>
              <a:t>kma-weather-data-pipeline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